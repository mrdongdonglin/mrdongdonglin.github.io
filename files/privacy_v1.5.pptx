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4"/>
  </p:notesMasterIdLst>
  <p:handoutMasterIdLst>
    <p:handoutMasterId r:id="rId25"/>
  </p:handoutMasterIdLst>
  <p:sldIdLst>
    <p:sldId id="256" r:id="rId2"/>
    <p:sldId id="368" r:id="rId3"/>
    <p:sldId id="454" r:id="rId4"/>
    <p:sldId id="413" r:id="rId5"/>
    <p:sldId id="374" r:id="rId6"/>
    <p:sldId id="451" r:id="rId7"/>
    <p:sldId id="421" r:id="rId8"/>
    <p:sldId id="450" r:id="rId9"/>
    <p:sldId id="425" r:id="rId10"/>
    <p:sldId id="429" r:id="rId11"/>
    <p:sldId id="426" r:id="rId12"/>
    <p:sldId id="453" r:id="rId13"/>
    <p:sldId id="430" r:id="rId14"/>
    <p:sldId id="452" r:id="rId15"/>
    <p:sldId id="431" r:id="rId16"/>
    <p:sldId id="434" r:id="rId17"/>
    <p:sldId id="435" r:id="rId18"/>
    <p:sldId id="455" r:id="rId19"/>
    <p:sldId id="439" r:id="rId20"/>
    <p:sldId id="441" r:id="rId21"/>
    <p:sldId id="442" r:id="rId22"/>
    <p:sldId id="443" r:id="rId23"/>
  </p:sldIdLst>
  <p:sldSz cx="9144000" cy="6858000" type="screen4x3"/>
  <p:notesSz cx="7315200" cy="9601200"/>
  <p:custDataLst>
    <p:tags r:id="rId26"/>
  </p:custDataLst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背景" id="{EFE22850-47D5-4D00-B358-DD955C43D032}">
          <p14:sldIdLst>
            <p14:sldId id="256"/>
            <p14:sldId id="368"/>
            <p14:sldId id="454"/>
            <p14:sldId id="413"/>
            <p14:sldId id="374"/>
          </p14:sldIdLst>
        </p14:section>
        <p14:section name="研究内容" id="{60B065F0-75DB-41AE-8A48-E695E6A71006}">
          <p14:sldIdLst>
            <p14:sldId id="451"/>
            <p14:sldId id="421"/>
            <p14:sldId id="450"/>
            <p14:sldId id="425"/>
            <p14:sldId id="429"/>
            <p14:sldId id="426"/>
            <p14:sldId id="453"/>
            <p14:sldId id="430"/>
            <p14:sldId id="452"/>
            <p14:sldId id="431"/>
            <p14:sldId id="434"/>
            <p14:sldId id="435"/>
            <p14:sldId id="455"/>
          </p14:sldIdLst>
        </p14:section>
        <p14:section name="总结与展望" id="{BEBF3D4B-3212-4AE2-9C9A-2798236F3BBA}">
          <p14:sldIdLst>
            <p14:sldId id="439"/>
            <p14:sldId id="441"/>
            <p14:sldId id="442"/>
            <p14:sldId id="443"/>
          </p14:sldIdLst>
        </p14:section>
      </p14:sectionLst>
    </p:ext>
    <p:ext uri="{EFAFB233-063F-42B5-8137-9DF3F51BA10A}">
      <p15:sldGuideLst xmlns:p15="http://schemas.microsoft.com/office/powerpoint/2012/main">
        <p15:guide id="1" pos="295" userDrawn="1">
          <p15:clr>
            <a:srgbClr val="A4A3A4"/>
          </p15:clr>
        </p15:guide>
        <p15:guide id="2" pos="5420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3DEED"/>
    <a:srgbClr val="FFFDCC"/>
    <a:srgbClr val="0000FF"/>
    <a:srgbClr val="2C308B"/>
    <a:srgbClr val="10A3E3"/>
    <a:srgbClr val="E9BFB7"/>
    <a:srgbClr val="E2F3FD"/>
    <a:srgbClr val="7EC1DD"/>
    <a:srgbClr val="BE2720"/>
    <a:srgbClr val="33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86" autoAdjust="0"/>
    <p:restoredTop sz="94660" autoAdjust="0"/>
  </p:normalViewPr>
  <p:slideViewPr>
    <p:cSldViewPr>
      <p:cViewPr varScale="1">
        <p:scale>
          <a:sx n="70" d="100"/>
          <a:sy n="70" d="100"/>
        </p:scale>
        <p:origin x="210" y="78"/>
      </p:cViewPr>
      <p:guideLst>
        <p:guide pos="295"/>
        <p:guide pos="5420"/>
        <p:guide orient="horz" pos="648"/>
        <p:guide orient="horz" pos="712"/>
        <p:guide orient="horz" pos="3928"/>
        <p:guide orient="horz" pos="38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82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75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smtClean="0"/>
            </a:lvl1pPr>
          </a:lstStyle>
          <a:p>
            <a:pPr>
              <a:defRPr/>
            </a:pPr>
            <a:fld id="{804FC9F7-8687-4B34-A4B9-DE227B7BA63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68523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smtClean="0"/>
            </a:lvl1pPr>
          </a:lstStyle>
          <a:p>
            <a:pPr>
              <a:defRPr/>
            </a:pPr>
            <a:fld id="{34BAA6B0-18E9-4783-BB08-A75529D0CAF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25924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FD07182-D3E5-4B7F-B322-4905C85B236B}" type="slidenum">
              <a:rPr lang="en-US" altLang="zh-TW" sz="1300"/>
              <a:pPr>
                <a:spcBef>
                  <a:spcPct val="0"/>
                </a:spcBef>
              </a:pPr>
              <a:t>1</a:t>
            </a:fld>
            <a:endParaRPr lang="en-US" altLang="zh-TW" sz="130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zh-CN" altLang="en-US" dirty="0" smtClean="0">
                <a:latin typeface="Arial" panose="020B0604020202020204" pitchFamily="34" charset="0"/>
              </a:rPr>
              <a:t>尊敬的老师，亲爱的同学们，大家</a:t>
            </a:r>
            <a:r>
              <a:rPr lang="en-US" altLang="zh-CN" dirty="0" smtClean="0">
                <a:latin typeface="Arial" panose="020B0604020202020204" pitchFamily="34" charset="0"/>
              </a:rPr>
              <a:t>XX</a:t>
            </a:r>
            <a:r>
              <a:rPr lang="zh-CN" altLang="en-US" dirty="0" smtClean="0">
                <a:latin typeface="Arial" panose="020B0604020202020204" pitchFamily="34" charset="0"/>
              </a:rPr>
              <a:t>好！我是林东东，今天我要给大家汇报的题目是</a:t>
            </a:r>
            <a:r>
              <a:rPr lang="en-US" altLang="zh-CN" dirty="0" smtClean="0">
                <a:latin typeface="Arial" panose="020B0604020202020204" pitchFamily="34" charset="0"/>
              </a:rPr>
              <a:t>《</a:t>
            </a:r>
            <a:r>
              <a:rPr lang="zh-CN" altLang="en-US" dirty="0" smtClean="0">
                <a:latin typeface="Arial" panose="020B0604020202020204" pitchFamily="34" charset="0"/>
              </a:rPr>
              <a:t>若干图像隐私保护算法的安全分析</a:t>
            </a:r>
            <a:r>
              <a:rPr lang="en-US" altLang="zh-CN" dirty="0" smtClean="0">
                <a:latin typeface="Arial" panose="020B0604020202020204" pitchFamily="34" charset="0"/>
              </a:rPr>
              <a:t>》</a:t>
            </a:r>
          </a:p>
        </p:txBody>
      </p:sp>
    </p:spTree>
    <p:extLst>
      <p:ext uri="{BB962C8B-B14F-4D97-AF65-F5344CB8AC3E}">
        <p14:creationId xmlns:p14="http://schemas.microsoft.com/office/powerpoint/2010/main" val="4182214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1pPr>
            <a:lvl2pPr marL="742950" indent="-28575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2pPr>
            <a:lvl3pPr marL="11430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3pPr>
            <a:lvl4pPr marL="16002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4pPr>
            <a:lvl5pPr marL="2057400" indent="-228600" defTabSz="96678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9pPr>
          </a:lstStyle>
          <a:p>
            <a:pPr>
              <a:spcBef>
                <a:spcPct val="0"/>
              </a:spcBef>
            </a:pPr>
            <a:fld id="{631771FB-97B2-42F9-AA33-12FD80C07E84}" type="slidenum">
              <a:rPr lang="en-US" altLang="zh-TW" sz="1300"/>
              <a:pPr>
                <a:spcBef>
                  <a:spcPct val="0"/>
                </a:spcBef>
              </a:pPr>
              <a:t>2</a:t>
            </a:fld>
            <a:endParaRPr lang="en-US" altLang="zh-TW" sz="130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</p:spPr>
        <p:txBody>
          <a:bodyPr/>
          <a:lstStyle/>
          <a:p>
            <a:pPr eaLnBrk="1" hangingPunct="1"/>
            <a:r>
              <a:rPr lang="zh-CN" altLang="en-US" dirty="0" smtClean="0">
                <a:latin typeface="Arial" panose="020B0604020202020204" pitchFamily="34" charset="0"/>
              </a:rPr>
              <a:t>我今天要汇报的内容分为三个部分：</a:t>
            </a:r>
            <a:r>
              <a:rPr lang="en-US" altLang="zh-CN" dirty="0" smtClean="0">
                <a:latin typeface="Arial" panose="020B0604020202020204" pitchFamily="34" charset="0"/>
              </a:rPr>
              <a:t>1.2.3</a:t>
            </a:r>
          </a:p>
        </p:txBody>
      </p:sp>
    </p:spTree>
    <p:extLst>
      <p:ext uri="{BB962C8B-B14F-4D97-AF65-F5344CB8AC3E}">
        <p14:creationId xmlns:p14="http://schemas.microsoft.com/office/powerpoint/2010/main" val="2068080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首先我们简单了解一下隐私保护和安全分析之间的关系，算法的一般框架是：明文信息经由加密算法加密为密文。明文可以是照片中的人脸、地理位置信息、也可以是整幅图像，而安全分析是分析对加密算法的安全性进行评估，它有很多种方法，我们主要讨论密码分析和漏洞挖掘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40144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我们在</a:t>
            </a:r>
            <a:r>
              <a:rPr lang="en-US" altLang="zh-CN" dirty="0" smtClean="0"/>
              <a:t>Web of Science</a:t>
            </a:r>
            <a:r>
              <a:rPr lang="zh-CN" altLang="en-US" dirty="0" smtClean="0"/>
              <a:t>上查找与隐私保护相关的论文，发现近二十年来，隐私保护相关的论文数量在快速上升。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3717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已有的隐私保护算法存在一些不足。</a:t>
            </a:r>
            <a:r>
              <a:rPr lang="zh-CN" altLang="en-US" smtClean="0"/>
              <a:t>所以，对隐私保护算法进行安全分析</a:t>
            </a:r>
            <a:r>
              <a:rPr lang="zh-CN" altLang="en-US" dirty="0" smtClean="0"/>
              <a:t>是非常有意义的。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0957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在众多的隐私保护算法中，我们选取了两种典型的图像加密算法：</a:t>
            </a:r>
            <a:r>
              <a:rPr lang="en-US" altLang="zh-CN" dirty="0" smtClean="0"/>
              <a:t>ISEA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IEAE</a:t>
            </a:r>
            <a:r>
              <a:rPr lang="zh-CN" altLang="en-US" dirty="0" smtClean="0"/>
              <a:t>。首先我们来看一下</a:t>
            </a:r>
            <a:r>
              <a:rPr lang="en-US" altLang="zh-CN" dirty="0" smtClean="0"/>
              <a:t>ISEA</a:t>
            </a:r>
            <a:r>
              <a:rPr lang="zh-CN" altLang="en-US" dirty="0" smtClean="0"/>
              <a:t>的加密是怎么执行的。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72312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在众多的隐私保护算法中，我们选取了两种典型的图像加密算法：</a:t>
            </a:r>
            <a:r>
              <a:rPr lang="en-US" altLang="zh-CN" dirty="0" smtClean="0"/>
              <a:t>ISEA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IEAE</a:t>
            </a:r>
            <a:r>
              <a:rPr lang="zh-CN" altLang="en-US" dirty="0" smtClean="0"/>
              <a:t>。首先我们来看一下</a:t>
            </a:r>
            <a:r>
              <a:rPr lang="en-US" altLang="zh-CN" dirty="0" smtClean="0"/>
              <a:t>ISEA</a:t>
            </a:r>
            <a:r>
              <a:rPr lang="zh-CN" altLang="en-US" dirty="0" smtClean="0"/>
              <a:t>的加密是怎么执行的。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0440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在众多的隐私保护算法中，我们选取了两种典型的图像加密算法：</a:t>
            </a:r>
            <a:r>
              <a:rPr lang="en-US" altLang="zh-CN" dirty="0" smtClean="0"/>
              <a:t>ISEA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IEAE</a:t>
            </a:r>
            <a:r>
              <a:rPr lang="zh-CN" altLang="en-US" dirty="0" smtClean="0"/>
              <a:t>。首先我们来看一下</a:t>
            </a:r>
            <a:r>
              <a:rPr lang="en-US" altLang="zh-CN" dirty="0" smtClean="0"/>
              <a:t>ISEA</a:t>
            </a:r>
            <a:r>
              <a:rPr lang="zh-CN" altLang="en-US" dirty="0" smtClean="0"/>
              <a:t>的加密是怎么执行的。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37730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45533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851346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290766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92648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618379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83340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15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234553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791219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17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374440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18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55734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920513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20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00716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069398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BAA6B0-18E9-4783-BB08-A75529D0CAF5}" type="slidenum">
              <a:rPr lang="en-US" altLang="zh-TW" smtClean="0"/>
              <a:pPr>
                <a:defRPr/>
              </a:pPr>
              <a:t>22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22698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899592" y="586408"/>
            <a:ext cx="7379196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 dirty="0" smtClean="0"/>
              <a:t>按一下以編輯母片標題樣式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99592" y="3212976"/>
            <a:ext cx="7379196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pPr lvl="0"/>
            <a:r>
              <a:rPr lang="zh-TW" altLang="en-US" noProof="0" dirty="0" smtClean="0"/>
              <a:t>按一下以編輯母片副標題樣式</a:t>
            </a:r>
          </a:p>
        </p:txBody>
      </p:sp>
      <p:sp>
        <p:nvSpPr>
          <p:cNvPr id="42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03648" y="6561112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4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92624" y="6561112"/>
            <a:ext cx="2895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4408" y="6533728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/>
            </a:lvl1pPr>
          </a:lstStyle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500350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研究背景及意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23527" y="1644"/>
            <a:ext cx="8496945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323527" y="1719263"/>
            <a:ext cx="8496945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03648" y="6561112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1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92624" y="6561112"/>
            <a:ext cx="2895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4408" y="6533728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/>
            </a:lvl1pPr>
          </a:lstStyle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005050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研究方法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23529" y="1082"/>
            <a:ext cx="8496944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323529" y="1719263"/>
            <a:ext cx="8496943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03648" y="6561112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1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92624" y="6561112"/>
            <a:ext cx="2895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4408" y="6533728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/>
            </a:lvl1pPr>
          </a:lstStyle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73163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研究成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23529" y="1082"/>
            <a:ext cx="8496944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323529" y="1719263"/>
            <a:ext cx="8496943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03648" y="6561112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1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92624" y="6561112"/>
            <a:ext cx="2895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4408" y="6533728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/>
            </a:lvl1pPr>
          </a:lstStyle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30643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与展望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23529" y="1082"/>
            <a:ext cx="8496944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323529" y="1719263"/>
            <a:ext cx="8496943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</a:p>
        </p:txBody>
      </p:sp>
      <p:sp>
        <p:nvSpPr>
          <p:cNvPr id="1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03648" y="6561112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1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92624" y="6561112"/>
            <a:ext cx="2895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4408" y="6533728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/>
            </a:lvl1pPr>
          </a:lstStyle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09380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研究对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23529" y="1082"/>
            <a:ext cx="8496944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323529" y="1719263"/>
            <a:ext cx="8496943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</a:p>
        </p:txBody>
      </p:sp>
      <p:sp>
        <p:nvSpPr>
          <p:cNvPr id="16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03648" y="6561112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17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92624" y="6561112"/>
            <a:ext cx="2895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4408" y="6533728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/>
            </a:lvl1pPr>
          </a:lstStyle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888165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23529" y="1082"/>
            <a:ext cx="8496944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323529" y="1719263"/>
            <a:ext cx="8496943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4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03648" y="6561112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15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92624" y="6561112"/>
            <a:ext cx="2895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4408" y="6533728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/>
            </a:lvl1pPr>
          </a:lstStyle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90830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16205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16205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093017-73CC-4E43-90AF-CE3740CC651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9608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78DA2E-87CF-444E-AD9C-DF68AD7059B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026954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815B90-D2FA-48A0-90BB-3AEFF92D23D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773034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F89093-7313-4320-8043-7A834D1CCEA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839660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979D80-66F1-4778-9B7E-AA57A13400F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32955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DA810-E38C-4F84-AE04-D1A73485C5D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33082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D00EB2-5B7F-44F8-A8CE-E09D016E726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283599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EBC02-9E6D-4D32-A9D1-0B639462604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5755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372DE-4F3F-454B-881E-2B46CD9DFA6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20975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122238"/>
            <a:ext cx="8229600" cy="6008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73FFCD-6558-4418-9F6A-756ABBEA64C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68645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FA1701-4C08-411E-8A4F-33A844C75EB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33374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7F9FB"/>
            </a:gs>
            <a:gs pos="100000">
              <a:schemeClr val="bg1"/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23529" y="1644"/>
            <a:ext cx="8496944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9" y="1719263"/>
            <a:ext cx="8496943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03648" y="6561112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92624" y="6561112"/>
            <a:ext cx="2895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000">
                <a:latin typeface="Arial" charset="0"/>
              </a:defRPr>
            </a:lvl1pPr>
          </a:lstStyle>
          <a:p>
            <a:pPr>
              <a:defRPr/>
            </a:pPr>
            <a:r>
              <a:rPr lang="en-US" altLang="zh-TW"/>
              <a:t>G Ron Chen:   From One to Infinity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74408" y="6533728"/>
            <a:ext cx="2133600" cy="32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200" smtClean="0"/>
            </a:lvl1pPr>
          </a:lstStyle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ts val="600"/>
        </a:spcAft>
        <a:defRPr kumimoji="1" lang="zh-TW" altLang="en-US" sz="4000" b="1" dirty="0">
          <a:solidFill>
            <a:schemeClr val="tx1"/>
          </a:solidFill>
          <a:effectLst/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ts val="600"/>
        </a:spcAft>
        <a:defRPr kumimoji="1" sz="3600" b="1">
          <a:solidFill>
            <a:srgbClr val="CC0066"/>
          </a:solidFill>
          <a:latin typeface="等线" panose="02010600030101010101" pitchFamily="2" charset="-122"/>
          <a:ea typeface="等线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ts val="600"/>
        </a:spcAft>
        <a:defRPr kumimoji="1" sz="3600" b="1">
          <a:solidFill>
            <a:srgbClr val="CC0066"/>
          </a:solidFill>
          <a:latin typeface="等线" panose="02010600030101010101" pitchFamily="2" charset="-122"/>
          <a:ea typeface="等线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ts val="600"/>
        </a:spcAft>
        <a:defRPr kumimoji="1" sz="3600" b="1">
          <a:solidFill>
            <a:srgbClr val="CC0066"/>
          </a:solidFill>
          <a:latin typeface="等线" panose="02010600030101010101" pitchFamily="2" charset="-122"/>
          <a:ea typeface="等线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ts val="600"/>
        </a:spcAft>
        <a:defRPr kumimoji="1" sz="3600" b="1">
          <a:solidFill>
            <a:srgbClr val="CC0066"/>
          </a:solidFill>
          <a:latin typeface="等线" panose="02010600030101010101" pitchFamily="2" charset="-122"/>
          <a:ea typeface="等线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PMingLiU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PMingLiU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PMingLiU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Arial" charset="0"/>
          <a:ea typeface="PMingLiU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华文细黑" panose="02010600040101010101" pitchFamily="2" charset="-122"/>
          <a:ea typeface="华文细黑" panose="02010600040101010101" pitchFamily="2" charset="-122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12" userDrawn="1">
          <p15:clr>
            <a:srgbClr val="F26B43"/>
          </p15:clr>
        </p15:guide>
        <p15:guide id="2" pos="5440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8.emf"/><Relationship Id="rId7" Type="http://schemas.openxmlformats.org/officeDocument/2006/relationships/image" Target="../media/image1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emf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image" Target="../media/image2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37450"/>
            <a:ext cx="9144000" cy="422695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 bwMode="auto">
          <a:xfrm>
            <a:off x="-13647" y="0"/>
            <a:ext cx="2750614" cy="5426254"/>
          </a:xfrm>
          <a:custGeom>
            <a:avLst/>
            <a:gdLst>
              <a:gd name="connsiteX0" fmla="*/ 0 w 2627784"/>
              <a:gd name="connsiteY0" fmla="*/ 0 h 2996952"/>
              <a:gd name="connsiteX1" fmla="*/ 2627784 w 2627784"/>
              <a:gd name="connsiteY1" fmla="*/ 0 h 2996952"/>
              <a:gd name="connsiteX2" fmla="*/ 2627784 w 2627784"/>
              <a:gd name="connsiteY2" fmla="*/ 2996952 h 2996952"/>
              <a:gd name="connsiteX3" fmla="*/ 0 w 2627784"/>
              <a:gd name="connsiteY3" fmla="*/ 2996952 h 2996952"/>
              <a:gd name="connsiteX4" fmla="*/ 0 w 2627784"/>
              <a:gd name="connsiteY4" fmla="*/ 0 h 2996952"/>
              <a:gd name="connsiteX0" fmla="*/ 0 w 2655080"/>
              <a:gd name="connsiteY0" fmla="*/ 0 h 6831973"/>
              <a:gd name="connsiteX1" fmla="*/ 2627784 w 2655080"/>
              <a:gd name="connsiteY1" fmla="*/ 0 h 6831973"/>
              <a:gd name="connsiteX2" fmla="*/ 2655080 w 2655080"/>
              <a:gd name="connsiteY2" fmla="*/ 6831973 h 6831973"/>
              <a:gd name="connsiteX3" fmla="*/ 0 w 2655080"/>
              <a:gd name="connsiteY3" fmla="*/ 2996952 h 6831973"/>
              <a:gd name="connsiteX4" fmla="*/ 0 w 2655080"/>
              <a:gd name="connsiteY4" fmla="*/ 0 h 6831973"/>
              <a:gd name="connsiteX0" fmla="*/ 0 w 2736967"/>
              <a:gd name="connsiteY0" fmla="*/ 0 h 5426254"/>
              <a:gd name="connsiteX1" fmla="*/ 2627784 w 2736967"/>
              <a:gd name="connsiteY1" fmla="*/ 0 h 5426254"/>
              <a:gd name="connsiteX2" fmla="*/ 2736967 w 2736967"/>
              <a:gd name="connsiteY2" fmla="*/ 5426254 h 5426254"/>
              <a:gd name="connsiteX3" fmla="*/ 0 w 2736967"/>
              <a:gd name="connsiteY3" fmla="*/ 2996952 h 5426254"/>
              <a:gd name="connsiteX4" fmla="*/ 0 w 2736967"/>
              <a:gd name="connsiteY4" fmla="*/ 0 h 5426254"/>
              <a:gd name="connsiteX0" fmla="*/ 13647 w 2750614"/>
              <a:gd name="connsiteY0" fmla="*/ 0 h 5426254"/>
              <a:gd name="connsiteX1" fmla="*/ 2641431 w 2750614"/>
              <a:gd name="connsiteY1" fmla="*/ 0 h 5426254"/>
              <a:gd name="connsiteX2" fmla="*/ 2750614 w 2750614"/>
              <a:gd name="connsiteY2" fmla="*/ 5426254 h 5426254"/>
              <a:gd name="connsiteX3" fmla="*/ 0 w 2750614"/>
              <a:gd name="connsiteY3" fmla="*/ 3761227 h 5426254"/>
              <a:gd name="connsiteX4" fmla="*/ 13647 w 2750614"/>
              <a:gd name="connsiteY4" fmla="*/ 0 h 5426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0614" h="5426254">
                <a:moveTo>
                  <a:pt x="13647" y="0"/>
                </a:moveTo>
                <a:lnTo>
                  <a:pt x="2641431" y="0"/>
                </a:lnTo>
                <a:lnTo>
                  <a:pt x="2750614" y="5426254"/>
                </a:lnTo>
                <a:lnTo>
                  <a:pt x="0" y="3761227"/>
                </a:lnTo>
                <a:lnTo>
                  <a:pt x="13647" y="0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1331292" y="15007"/>
            <a:ext cx="6337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defRPr/>
            </a:pP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</a:rPr>
              <a:t>硕士</a:t>
            </a:r>
            <a:r>
              <a:rPr lang="zh-CN" altLang="en-US" sz="24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论文答辩</a:t>
            </a:r>
            <a:endParaRPr lang="en-US" sz="2400" dirty="0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43322" y="1056300"/>
            <a:ext cx="7345040" cy="1581150"/>
          </a:xfrm>
          <a:effectLst>
            <a:outerShdw blurRad="50800" dist="50800" dir="2700000" algn="tl" rotWithShape="0">
              <a:srgbClr val="C00000">
                <a:alpha val="40000"/>
              </a:srgbClr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zh-CN" sz="5000" b="0" dirty="0" smtClean="0">
                <a:solidFill>
                  <a:srgbClr val="2C308B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若干图像隐私保护算法的安全分析</a:t>
            </a:r>
            <a:endParaRPr lang="en-US" altLang="zh-TW" sz="5000" b="0" dirty="0" smtClean="0">
              <a:solidFill>
                <a:srgbClr val="2C308B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220" name="Text Box 7"/>
          <p:cNvSpPr txBox="1">
            <a:spLocks noChangeArrowheads="1"/>
          </p:cNvSpPr>
          <p:nvPr/>
        </p:nvSpPr>
        <p:spPr bwMode="auto">
          <a:xfrm>
            <a:off x="4432" y="6512201"/>
            <a:ext cx="16573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defPPr>
              <a:defRPr lang="zh-TW"/>
            </a:defPPr>
            <a:lvl1pPr algn="ctr" eaLnBrk="1" hangingPunct="1">
              <a:spcBef>
                <a:spcPct val="50000"/>
              </a:spcBef>
              <a:defRPr sz="2400">
                <a:solidFill>
                  <a:schemeClr val="fol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defRPr>
            </a:lvl1pPr>
          </a:lstStyle>
          <a:p>
            <a:pPr algn="l"/>
            <a:r>
              <a:rPr lang="en-US" altLang="zh-CN" sz="1600" dirty="0">
                <a:solidFill>
                  <a:schemeClr val="tx1"/>
                </a:solidFill>
                <a:effectLst/>
              </a:rPr>
              <a:t>2018-5-24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6" y="3414479"/>
            <a:ext cx="9144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fontAlgn="t" hangingPunct="1"/>
            <a:r>
              <a:rPr lang="zh-CN" altLang="zh-CN" sz="36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报告人</a:t>
            </a:r>
            <a:r>
              <a:rPr lang="en-US" altLang="zh-CN" sz="3600" dirty="0"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  <a:r>
              <a:rPr lang="en-US" altLang="zh-CN" sz="36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     </a:t>
            </a:r>
            <a:r>
              <a:rPr lang="zh-CN" altLang="zh-CN" sz="36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林东东</a:t>
            </a:r>
            <a:endParaRPr lang="en-US" altLang="zh-CN" sz="3600" dirty="0" smtClean="0"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algn="ctr" eaLnBrk="1" fontAlgn="t" hangingPunct="1"/>
            <a:endParaRPr lang="en-US" altLang="zh-CN" sz="2800" dirty="0" smtClean="0"/>
          </a:p>
          <a:p>
            <a:pPr algn="ctr" eaLnBrk="1" fontAlgn="t" hangingPunct="1"/>
            <a:endParaRPr lang="zh-CN" altLang="zh-CN" sz="2800" dirty="0"/>
          </a:p>
          <a:p>
            <a:pPr algn="ctr" eaLnBrk="1" fontAlgn="t" hangingPunct="1"/>
            <a:r>
              <a:rPr lang="zh-CN" altLang="zh-CN" sz="2400" dirty="0">
                <a:latin typeface="+mn-lt"/>
                <a:ea typeface="华文细黑" panose="02010600040101010101" pitchFamily="2" charset="-122"/>
              </a:rPr>
              <a:t>学</a:t>
            </a:r>
            <a:r>
              <a:rPr lang="zh-CN" altLang="zh-CN" sz="2400" dirty="0" smtClean="0">
                <a:latin typeface="+mn-lt"/>
                <a:ea typeface="华文细黑" panose="02010600040101010101" pitchFamily="2" charset="-122"/>
              </a:rPr>
              <a:t>号</a:t>
            </a:r>
            <a:r>
              <a:rPr lang="en-US" altLang="zh-CN" sz="2400" dirty="0">
                <a:latin typeface="+mn-lt"/>
                <a:ea typeface="华文细黑" panose="02010600040101010101" pitchFamily="2" charset="-122"/>
              </a:rPr>
              <a:t> </a:t>
            </a:r>
            <a:r>
              <a:rPr lang="en-US" altLang="zh-CN" sz="2400" dirty="0" smtClean="0">
                <a:latin typeface="+mn-lt"/>
                <a:ea typeface="华文细黑" panose="02010600040101010101" pitchFamily="2" charset="-122"/>
              </a:rPr>
              <a:t>    201510171819</a:t>
            </a:r>
            <a:endParaRPr lang="zh-CN" altLang="zh-CN" sz="2400" dirty="0">
              <a:latin typeface="+mn-lt"/>
              <a:ea typeface="华文细黑" panose="02010600040101010101" pitchFamily="2" charset="-122"/>
            </a:endParaRPr>
          </a:p>
          <a:p>
            <a:pPr algn="ctr" eaLnBrk="1" fontAlgn="t" hangingPunct="1"/>
            <a:r>
              <a:rPr lang="zh-CN" altLang="zh-CN" sz="2400" dirty="0">
                <a:latin typeface="+mn-lt"/>
                <a:ea typeface="华文细黑" panose="02010600040101010101" pitchFamily="2" charset="-122"/>
              </a:rPr>
              <a:t>指导</a:t>
            </a:r>
            <a:r>
              <a:rPr lang="zh-CN" altLang="zh-CN" sz="2400" dirty="0" smtClean="0">
                <a:latin typeface="+mn-lt"/>
                <a:ea typeface="华文细黑" panose="02010600040101010101" pitchFamily="2" charset="-122"/>
              </a:rPr>
              <a:t>教师</a:t>
            </a:r>
            <a:r>
              <a:rPr lang="en-US" altLang="zh-CN" sz="2400" dirty="0">
                <a:latin typeface="+mn-lt"/>
                <a:ea typeface="华文细黑" panose="02010600040101010101" pitchFamily="2" charset="-122"/>
              </a:rPr>
              <a:t> </a:t>
            </a:r>
            <a:r>
              <a:rPr lang="en-US" altLang="zh-CN" sz="2400" dirty="0" smtClean="0">
                <a:latin typeface="+mn-lt"/>
                <a:ea typeface="华文细黑" panose="02010600040101010101" pitchFamily="2" charset="-122"/>
              </a:rPr>
              <a:t>  </a:t>
            </a:r>
            <a:r>
              <a:rPr lang="zh-CN" altLang="zh-CN" sz="2400" dirty="0" smtClean="0">
                <a:latin typeface="+mn-lt"/>
                <a:ea typeface="华文细黑" panose="02010600040101010101" pitchFamily="2" charset="-122"/>
              </a:rPr>
              <a:t>李</a:t>
            </a:r>
            <a:r>
              <a:rPr lang="zh-CN" altLang="zh-CN" sz="2400" dirty="0">
                <a:latin typeface="+mn-lt"/>
                <a:ea typeface="华文细黑" panose="02010600040101010101" pitchFamily="2" charset="-122"/>
              </a:rPr>
              <a:t>澄清 </a:t>
            </a:r>
            <a:r>
              <a:rPr lang="zh-CN" altLang="zh-CN" sz="2400" dirty="0" smtClean="0">
                <a:latin typeface="+mn-lt"/>
                <a:ea typeface="华文细黑" panose="02010600040101010101" pitchFamily="2" charset="-122"/>
              </a:rPr>
              <a:t>教授</a:t>
            </a:r>
            <a:endParaRPr lang="zh-CN" altLang="en-US" sz="2400" dirty="0">
              <a:latin typeface="+mn-lt"/>
              <a:ea typeface="华文细黑" panose="0201060004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026" y="-13089"/>
            <a:ext cx="1076190" cy="69523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 bwMode="auto">
          <a:xfrm>
            <a:off x="7886956" y="-1350"/>
            <a:ext cx="1267659" cy="756176"/>
          </a:xfrm>
          <a:custGeom>
            <a:avLst/>
            <a:gdLst>
              <a:gd name="connsiteX0" fmla="*/ 0 w 967408"/>
              <a:gd name="connsiteY0" fmla="*/ 0 h 756175"/>
              <a:gd name="connsiteX1" fmla="*/ 967408 w 967408"/>
              <a:gd name="connsiteY1" fmla="*/ 0 h 756175"/>
              <a:gd name="connsiteX2" fmla="*/ 967408 w 967408"/>
              <a:gd name="connsiteY2" fmla="*/ 756175 h 756175"/>
              <a:gd name="connsiteX3" fmla="*/ 0 w 967408"/>
              <a:gd name="connsiteY3" fmla="*/ 756175 h 756175"/>
              <a:gd name="connsiteX4" fmla="*/ 0 w 967408"/>
              <a:gd name="connsiteY4" fmla="*/ 0 h 756175"/>
              <a:gd name="connsiteX0" fmla="*/ 0 w 967408"/>
              <a:gd name="connsiteY0" fmla="*/ 0 h 756175"/>
              <a:gd name="connsiteX1" fmla="*/ 557975 w 967408"/>
              <a:gd name="connsiteY1" fmla="*/ 423080 h 756175"/>
              <a:gd name="connsiteX2" fmla="*/ 967408 w 967408"/>
              <a:gd name="connsiteY2" fmla="*/ 756175 h 756175"/>
              <a:gd name="connsiteX3" fmla="*/ 0 w 967408"/>
              <a:gd name="connsiteY3" fmla="*/ 756175 h 756175"/>
              <a:gd name="connsiteX4" fmla="*/ 0 w 967408"/>
              <a:gd name="connsiteY4" fmla="*/ 0 h 756175"/>
              <a:gd name="connsiteX0" fmla="*/ 0 w 1486023"/>
              <a:gd name="connsiteY0" fmla="*/ 0 h 756175"/>
              <a:gd name="connsiteX1" fmla="*/ 557975 w 1486023"/>
              <a:gd name="connsiteY1" fmla="*/ 423080 h 756175"/>
              <a:gd name="connsiteX2" fmla="*/ 1486023 w 1486023"/>
              <a:gd name="connsiteY2" fmla="*/ 606050 h 756175"/>
              <a:gd name="connsiteX3" fmla="*/ 0 w 1486023"/>
              <a:gd name="connsiteY3" fmla="*/ 756175 h 756175"/>
              <a:gd name="connsiteX4" fmla="*/ 0 w 1486023"/>
              <a:gd name="connsiteY4" fmla="*/ 0 h 756175"/>
              <a:gd name="connsiteX0" fmla="*/ 0 w 1486023"/>
              <a:gd name="connsiteY0" fmla="*/ 54592 h 810767"/>
              <a:gd name="connsiteX1" fmla="*/ 380554 w 1486023"/>
              <a:gd name="connsiteY1" fmla="*/ 0 h 810767"/>
              <a:gd name="connsiteX2" fmla="*/ 1486023 w 1486023"/>
              <a:gd name="connsiteY2" fmla="*/ 660642 h 810767"/>
              <a:gd name="connsiteX3" fmla="*/ 0 w 1486023"/>
              <a:gd name="connsiteY3" fmla="*/ 810767 h 810767"/>
              <a:gd name="connsiteX4" fmla="*/ 0 w 1486023"/>
              <a:gd name="connsiteY4" fmla="*/ 54592 h 810767"/>
              <a:gd name="connsiteX0" fmla="*/ 0 w 1486023"/>
              <a:gd name="connsiteY0" fmla="*/ 81888 h 838063"/>
              <a:gd name="connsiteX1" fmla="*/ 435145 w 1486023"/>
              <a:gd name="connsiteY1" fmla="*/ 0 h 838063"/>
              <a:gd name="connsiteX2" fmla="*/ 1486023 w 1486023"/>
              <a:gd name="connsiteY2" fmla="*/ 687938 h 838063"/>
              <a:gd name="connsiteX3" fmla="*/ 0 w 1486023"/>
              <a:gd name="connsiteY3" fmla="*/ 838063 h 838063"/>
              <a:gd name="connsiteX4" fmla="*/ 0 w 1486023"/>
              <a:gd name="connsiteY4" fmla="*/ 81888 h 838063"/>
              <a:gd name="connsiteX0" fmla="*/ 0 w 1486023"/>
              <a:gd name="connsiteY0" fmla="*/ 81888 h 728881"/>
              <a:gd name="connsiteX1" fmla="*/ 435145 w 1486023"/>
              <a:gd name="connsiteY1" fmla="*/ 0 h 728881"/>
              <a:gd name="connsiteX2" fmla="*/ 1486023 w 1486023"/>
              <a:gd name="connsiteY2" fmla="*/ 687938 h 728881"/>
              <a:gd name="connsiteX3" fmla="*/ 627797 w 1486023"/>
              <a:gd name="connsiteY3" fmla="*/ 728881 h 728881"/>
              <a:gd name="connsiteX4" fmla="*/ 0 w 1486023"/>
              <a:gd name="connsiteY4" fmla="*/ 81888 h 728881"/>
              <a:gd name="connsiteX0" fmla="*/ 0 w 1267659"/>
              <a:gd name="connsiteY0" fmla="*/ 68241 h 728881"/>
              <a:gd name="connsiteX1" fmla="*/ 216781 w 1267659"/>
              <a:gd name="connsiteY1" fmla="*/ 0 h 728881"/>
              <a:gd name="connsiteX2" fmla="*/ 1267659 w 1267659"/>
              <a:gd name="connsiteY2" fmla="*/ 687938 h 728881"/>
              <a:gd name="connsiteX3" fmla="*/ 409433 w 1267659"/>
              <a:gd name="connsiteY3" fmla="*/ 728881 h 728881"/>
              <a:gd name="connsiteX4" fmla="*/ 0 w 1267659"/>
              <a:gd name="connsiteY4" fmla="*/ 68241 h 728881"/>
              <a:gd name="connsiteX0" fmla="*/ 0 w 1267659"/>
              <a:gd name="connsiteY0" fmla="*/ 68241 h 756176"/>
              <a:gd name="connsiteX1" fmla="*/ 216781 w 1267659"/>
              <a:gd name="connsiteY1" fmla="*/ 0 h 756176"/>
              <a:gd name="connsiteX2" fmla="*/ 1267659 w 1267659"/>
              <a:gd name="connsiteY2" fmla="*/ 687938 h 756176"/>
              <a:gd name="connsiteX3" fmla="*/ 122830 w 1267659"/>
              <a:gd name="connsiteY3" fmla="*/ 756176 h 756176"/>
              <a:gd name="connsiteX4" fmla="*/ 0 w 1267659"/>
              <a:gd name="connsiteY4" fmla="*/ 68241 h 756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67659" h="756176">
                <a:moveTo>
                  <a:pt x="0" y="68241"/>
                </a:moveTo>
                <a:lnTo>
                  <a:pt x="216781" y="0"/>
                </a:lnTo>
                <a:lnTo>
                  <a:pt x="1267659" y="687938"/>
                </a:lnTo>
                <a:lnTo>
                  <a:pt x="122830" y="756176"/>
                </a:lnTo>
                <a:lnTo>
                  <a:pt x="0" y="68241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latin typeface="Arial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334"/>
    </mc:Choice>
    <mc:Fallback xmlns="">
      <p:transition spd="slow" advTm="15334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9" y="320576"/>
            <a:ext cx="8496944" cy="1092200"/>
          </a:xfrm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/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zh-CN" sz="4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报告提纲</a:t>
            </a:r>
          </a:p>
        </p:txBody>
      </p:sp>
      <p:sp>
        <p:nvSpPr>
          <p:cNvPr id="11268" name="文本框 13"/>
          <p:cNvSpPr txBox="1">
            <a:spLocks noChangeArrowheads="1"/>
          </p:cNvSpPr>
          <p:nvPr/>
        </p:nvSpPr>
        <p:spPr bwMode="auto">
          <a:xfrm>
            <a:off x="2411760" y="2204864"/>
            <a:ext cx="5688632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zh-CN" altLang="en-US" sz="40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研究背景及意义</a:t>
            </a:r>
            <a:endParaRPr lang="en-US" altLang="zh-CN" sz="40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zh-CN" altLang="en-US" sz="4000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本文主要研究内容</a:t>
            </a:r>
            <a:endParaRPr lang="en-US" altLang="zh-CN" sz="40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p"/>
            </a:pPr>
            <a:r>
              <a:rPr lang="zh-CN" altLang="en-US" sz="4000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总结</a:t>
            </a:r>
            <a:r>
              <a:rPr lang="zh-CN" altLang="en-US" sz="40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与展望</a:t>
            </a:r>
            <a:endParaRPr lang="en-US" altLang="zh-CN" sz="4000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2</a:t>
            </a:fld>
            <a:endParaRPr lang="en-US" altLang="zh-TW" dirty="0"/>
          </a:p>
        </p:txBody>
      </p:sp>
    </p:spTree>
  </p:cSld>
  <p:clrMapOvr>
    <a:masterClrMapping/>
  </p:clrMapOvr>
  <p:transition advTm="6343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 bwMode="auto">
          <a:xfrm>
            <a:off x="848901" y="1700808"/>
            <a:ext cx="1944216" cy="4235698"/>
          </a:xfrm>
          <a:prstGeom prst="roundRect">
            <a:avLst/>
          </a:prstGeom>
          <a:solidFill>
            <a:schemeClr val="bg1"/>
          </a:solidFill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3200" b="0" i="0" u="none" strike="noStrike" cap="none" normalizeH="0" baseline="0" dirty="0" smtClean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明文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 smtClean="0"/>
              <a:t>隐私保护与安全分析</a:t>
            </a:r>
            <a:endParaRPr 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  <p:sp>
        <p:nvSpPr>
          <p:cNvPr id="9" name="圆角矩形 8"/>
          <p:cNvSpPr/>
          <p:nvPr/>
        </p:nvSpPr>
        <p:spPr bwMode="auto">
          <a:xfrm>
            <a:off x="1043608" y="2562051"/>
            <a:ext cx="1554802" cy="720080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人脸</a:t>
            </a:r>
            <a:endParaRPr kumimoji="1" lang="zh-CN" altLang="en-US" sz="3200" b="0" i="0" u="none" strike="noStrike" cap="none" normalizeH="0" baseline="0" dirty="0" smtClean="0"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圆角矩形 9"/>
          <p:cNvSpPr/>
          <p:nvPr/>
        </p:nvSpPr>
        <p:spPr bwMode="auto">
          <a:xfrm>
            <a:off x="1043608" y="3466314"/>
            <a:ext cx="1554802" cy="720080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位置</a:t>
            </a:r>
            <a:endParaRPr kumimoji="1" lang="zh-CN" altLang="en-US" sz="3200" b="0" i="0" u="none" strike="noStrike" cap="none" normalizeH="0" baseline="0" dirty="0" smtClean="0"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圆角矩形 10"/>
          <p:cNvSpPr/>
          <p:nvPr/>
        </p:nvSpPr>
        <p:spPr bwMode="auto">
          <a:xfrm>
            <a:off x="1043608" y="4337808"/>
            <a:ext cx="1554802" cy="720080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全图</a:t>
            </a:r>
            <a:endParaRPr kumimoji="1" lang="zh-CN" altLang="en-US" sz="3200" b="0" i="0" u="none" strike="noStrike" cap="none" normalizeH="0" baseline="0" dirty="0" smtClean="0"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68646" y="5235248"/>
            <a:ext cx="69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+mn-lt"/>
              </a:rPr>
              <a:t>…....</a:t>
            </a:r>
          </a:p>
        </p:txBody>
      </p:sp>
      <p:sp>
        <p:nvSpPr>
          <p:cNvPr id="13" name="圆角矩形 12"/>
          <p:cNvSpPr/>
          <p:nvPr/>
        </p:nvSpPr>
        <p:spPr bwMode="auto">
          <a:xfrm>
            <a:off x="3599891" y="1700808"/>
            <a:ext cx="1944216" cy="1080120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加密算法</a:t>
            </a:r>
            <a:endParaRPr kumimoji="1" lang="zh-CN" altLang="en-US" sz="3200" b="0" i="0" u="none" strike="noStrike" cap="none" normalizeH="0" baseline="0" dirty="0" smtClean="0"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圆角矩形 14"/>
          <p:cNvSpPr/>
          <p:nvPr/>
        </p:nvSpPr>
        <p:spPr bwMode="auto">
          <a:xfrm>
            <a:off x="6350881" y="1700808"/>
            <a:ext cx="1944216" cy="4235698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6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3200" b="0" i="0" u="none" strike="noStrike" cap="none" normalizeH="0" baseline="0" dirty="0" smtClean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密文</a:t>
            </a:r>
          </a:p>
        </p:txBody>
      </p:sp>
      <p:sp>
        <p:nvSpPr>
          <p:cNvPr id="24" name="右箭头 23"/>
          <p:cNvSpPr/>
          <p:nvPr/>
        </p:nvSpPr>
        <p:spPr>
          <a:xfrm>
            <a:off x="2858797" y="2129986"/>
            <a:ext cx="705091" cy="257074"/>
          </a:xfrm>
          <a:prstGeom prst="righ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endParaRPr lang="zh-CN" altLang="en-US">
              <a:solidFill>
                <a:schemeClr val="accent1"/>
              </a:solidFill>
              <a:latin typeface="Arial" charset="0"/>
            </a:endParaRPr>
          </a:p>
        </p:txBody>
      </p:sp>
      <p:sp>
        <p:nvSpPr>
          <p:cNvPr id="25" name="右箭头 24"/>
          <p:cNvSpPr/>
          <p:nvPr/>
        </p:nvSpPr>
        <p:spPr>
          <a:xfrm>
            <a:off x="5594948" y="2140662"/>
            <a:ext cx="705091" cy="257074"/>
          </a:xfrm>
          <a:prstGeom prst="righ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endParaRPr lang="zh-CN" altLang="en-US">
              <a:solidFill>
                <a:schemeClr val="accent1"/>
              </a:solidFill>
              <a:latin typeface="Arial" charset="0"/>
            </a:endParaRPr>
          </a:p>
        </p:txBody>
      </p:sp>
      <p:sp>
        <p:nvSpPr>
          <p:cNvPr id="20" name="圆角矩形 19"/>
          <p:cNvSpPr/>
          <p:nvPr/>
        </p:nvSpPr>
        <p:spPr bwMode="auto">
          <a:xfrm>
            <a:off x="3405184" y="3282131"/>
            <a:ext cx="2318944" cy="2654375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安全分析</a:t>
            </a:r>
            <a:endParaRPr lang="en-US" altLang="zh-CN" sz="32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 smtClean="0"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圆角矩形 20"/>
          <p:cNvSpPr/>
          <p:nvPr/>
        </p:nvSpPr>
        <p:spPr bwMode="auto">
          <a:xfrm>
            <a:off x="3615289" y="4024028"/>
            <a:ext cx="1928817" cy="720080"/>
          </a:xfrm>
          <a:prstGeom prst="roundRect">
            <a:avLst/>
          </a:prstGeom>
          <a:solidFill>
            <a:srgbClr val="FFFDCC"/>
          </a:solidFill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密码分析</a:t>
            </a:r>
          </a:p>
        </p:txBody>
      </p:sp>
      <p:sp>
        <p:nvSpPr>
          <p:cNvPr id="27" name="右箭头 26"/>
          <p:cNvSpPr/>
          <p:nvPr/>
        </p:nvSpPr>
        <p:spPr>
          <a:xfrm rot="16200000">
            <a:off x="4392698" y="2897439"/>
            <a:ext cx="374000" cy="257074"/>
          </a:xfrm>
          <a:prstGeom prst="righ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endParaRPr lang="zh-CN" altLang="en-US">
              <a:solidFill>
                <a:schemeClr val="accent1"/>
              </a:solidFill>
              <a:latin typeface="Arial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178842" y="5531073"/>
            <a:ext cx="852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 dirty="0" smtClean="0">
                <a:latin typeface="+mn-lt"/>
              </a:rPr>
              <a:t>……</a:t>
            </a:r>
          </a:p>
        </p:txBody>
      </p:sp>
      <p:sp>
        <p:nvSpPr>
          <p:cNvPr id="19" name="圆角矩形 18"/>
          <p:cNvSpPr/>
          <p:nvPr/>
        </p:nvSpPr>
        <p:spPr bwMode="auto">
          <a:xfrm>
            <a:off x="1043419" y="4343287"/>
            <a:ext cx="1554802" cy="720080"/>
          </a:xfrm>
          <a:prstGeom prst="roundRect">
            <a:avLst/>
          </a:prstGeom>
          <a:solidFill>
            <a:srgbClr val="FFFDCC"/>
          </a:solidFill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全图</a:t>
            </a:r>
          </a:p>
        </p:txBody>
      </p:sp>
      <p:sp>
        <p:nvSpPr>
          <p:cNvPr id="18" name="圆角矩形 17"/>
          <p:cNvSpPr/>
          <p:nvPr/>
        </p:nvSpPr>
        <p:spPr bwMode="auto">
          <a:xfrm>
            <a:off x="3615289" y="4875208"/>
            <a:ext cx="1928817" cy="720080"/>
          </a:xfrm>
          <a:prstGeom prst="roundRect">
            <a:avLst/>
          </a:prstGeom>
          <a:solidFill>
            <a:srgbClr val="FFFDCC"/>
          </a:solidFill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漏洞挖掘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0441202"/>
      </p:ext>
    </p:extLst>
  </p:cSld>
  <p:clrMapOvr>
    <a:masterClrMapping/>
  </p:clrMapOvr>
  <p:transition advTm="1821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1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1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1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2" grpId="0"/>
      <p:bldP spid="13" grpId="0" animBg="1"/>
      <p:bldP spid="15" grpId="0" animBg="1"/>
      <p:bldP spid="24" grpId="0" animBg="1"/>
      <p:bldP spid="25" grpId="0" animBg="1"/>
      <p:bldP spid="20" grpId="0" animBg="1"/>
      <p:bldP spid="21" grpId="0" animBg="1"/>
      <p:bldP spid="27" grpId="0" animBg="1"/>
      <p:bldP spid="28" grpId="0"/>
      <p:bldP spid="19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dirty="0" smtClean="0"/>
              <a:t>国内外</a:t>
            </a:r>
            <a:r>
              <a:rPr lang="zh-CN" altLang="en-US" dirty="0"/>
              <a:t>研究</a:t>
            </a:r>
            <a:r>
              <a:rPr lang="zh-CN" altLang="en-US" dirty="0" smtClean="0"/>
              <a:t>现状</a:t>
            </a:r>
            <a:endParaRPr lang="zh-CN" dirty="0"/>
          </a:p>
        </p:txBody>
      </p:sp>
      <p:grpSp>
        <p:nvGrpSpPr>
          <p:cNvPr id="5" name="组合 4"/>
          <p:cNvGrpSpPr/>
          <p:nvPr/>
        </p:nvGrpSpPr>
        <p:grpSpPr>
          <a:xfrm>
            <a:off x="1214612" y="3150650"/>
            <a:ext cx="6784975" cy="2942646"/>
            <a:chOff x="1214612" y="3150650"/>
            <a:chExt cx="6784975" cy="2942646"/>
          </a:xfrm>
        </p:grpSpPr>
        <p:pic>
          <p:nvPicPr>
            <p:cNvPr id="16392" name="图片 10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612" y="3150650"/>
              <a:ext cx="6784975" cy="2942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任意多边形 17"/>
            <p:cNvSpPr/>
            <p:nvPr/>
          </p:nvSpPr>
          <p:spPr bwMode="auto">
            <a:xfrm>
              <a:off x="1763688" y="3629694"/>
              <a:ext cx="2032000" cy="1887538"/>
            </a:xfrm>
            <a:custGeom>
              <a:avLst/>
              <a:gdLst>
                <a:gd name="connsiteX0" fmla="*/ 0 w 2032000"/>
                <a:gd name="connsiteY0" fmla="*/ 1886857 h 1886857"/>
                <a:gd name="connsiteX1" fmla="*/ 1306285 w 2032000"/>
                <a:gd name="connsiteY1" fmla="*/ 1219200 h 1886857"/>
                <a:gd name="connsiteX2" fmla="*/ 2032000 w 2032000"/>
                <a:gd name="connsiteY2" fmla="*/ 0 h 1886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32000" h="1886857">
                  <a:moveTo>
                    <a:pt x="0" y="1886857"/>
                  </a:moveTo>
                  <a:cubicBezTo>
                    <a:pt x="483809" y="1710266"/>
                    <a:pt x="967618" y="1533676"/>
                    <a:pt x="1306285" y="1219200"/>
                  </a:cubicBezTo>
                  <a:cubicBezTo>
                    <a:pt x="1644952" y="904724"/>
                    <a:pt x="1906210" y="205619"/>
                    <a:pt x="2032000" y="0"/>
                  </a:cubicBezTo>
                </a:path>
              </a:pathLst>
            </a:custGeom>
            <a:noFill/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>
                <a:solidFill>
                  <a:schemeClr val="accent1"/>
                </a:solidFill>
                <a:latin typeface="Arial" charset="0"/>
              </a:endParaRPr>
            </a:p>
          </p:txBody>
        </p:sp>
        <p:sp>
          <p:nvSpPr>
            <p:cNvPr id="19" name="任意多边形 18"/>
            <p:cNvSpPr/>
            <p:nvPr/>
          </p:nvSpPr>
          <p:spPr bwMode="auto">
            <a:xfrm>
              <a:off x="5260950" y="3615407"/>
              <a:ext cx="2235200" cy="1901825"/>
            </a:xfrm>
            <a:custGeom>
              <a:avLst/>
              <a:gdLst>
                <a:gd name="connsiteX0" fmla="*/ 0 w 2235200"/>
                <a:gd name="connsiteY0" fmla="*/ 1901371 h 1901371"/>
                <a:gd name="connsiteX1" fmla="*/ 1451428 w 2235200"/>
                <a:gd name="connsiteY1" fmla="*/ 1248228 h 1901371"/>
                <a:gd name="connsiteX2" fmla="*/ 2235200 w 2235200"/>
                <a:gd name="connsiteY2" fmla="*/ 0 h 1901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35200" h="1901371">
                  <a:moveTo>
                    <a:pt x="0" y="1901371"/>
                  </a:moveTo>
                  <a:cubicBezTo>
                    <a:pt x="539447" y="1733247"/>
                    <a:pt x="1078895" y="1565123"/>
                    <a:pt x="1451428" y="1248228"/>
                  </a:cubicBezTo>
                  <a:cubicBezTo>
                    <a:pt x="1823961" y="931333"/>
                    <a:pt x="2152952" y="241905"/>
                    <a:pt x="2235200" y="0"/>
                  </a:cubicBezTo>
                </a:path>
              </a:pathLst>
            </a:custGeom>
            <a:noFill/>
            <a:ln w="28575" cap="flat" cmpd="sng" algn="ctr">
              <a:noFill/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/>
              <a:endParaRPr lang="zh-CN" altLang="en-US">
                <a:solidFill>
                  <a:schemeClr val="accent1"/>
                </a:solidFill>
                <a:latin typeface="Arial" charset="0"/>
              </a:endParaRP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1187624" y="1605544"/>
            <a:ext cx="6838950" cy="1200150"/>
          </a:xfrm>
          <a:prstGeom prst="rect">
            <a:avLst/>
          </a:prstGeom>
          <a:solidFill>
            <a:srgbClr val="FFFD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检索网址：</a:t>
            </a:r>
            <a:r>
              <a:rPr lang="en-US" altLang="zh-CN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	Web of Science</a:t>
            </a:r>
          </a:p>
          <a:p>
            <a:pPr eaLnBrk="1" hangingPunct="1">
              <a:defRPr/>
            </a:pPr>
            <a:r>
              <a:rPr lang="zh-CN" altLang="en-US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关键字：</a:t>
            </a:r>
            <a:r>
              <a:rPr lang="en-US" altLang="zh-CN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	(privacy) and (encrypt* or </a:t>
            </a:r>
            <a:r>
              <a:rPr lang="en-US" altLang="zh-CN" b="1" dirty="0" err="1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secur</a:t>
            </a:r>
            <a:r>
              <a:rPr lang="en-US" altLang="zh-CN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* or 	protect* or </a:t>
            </a:r>
          </a:p>
          <a:p>
            <a:pPr eaLnBrk="1" hangingPunct="1">
              <a:defRPr/>
            </a:pPr>
            <a:r>
              <a:rPr lang="en-US" altLang="zh-CN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b="1" dirty="0" err="1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preserv</a:t>
            </a:r>
            <a:r>
              <a:rPr lang="en-US" altLang="zh-CN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*) and (image or video)</a:t>
            </a:r>
          </a:p>
          <a:p>
            <a:pPr eaLnBrk="1" hangingPunct="1">
              <a:defRPr/>
            </a:pPr>
            <a:r>
              <a:rPr lang="zh-CN" altLang="en-US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年份：</a:t>
            </a:r>
            <a:r>
              <a:rPr lang="en-US" altLang="zh-CN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		1998 </a:t>
            </a:r>
            <a:r>
              <a:rPr lang="zh-CN" altLang="en-US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年至</a:t>
            </a:r>
            <a:r>
              <a:rPr lang="en-US" altLang="zh-CN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2018 </a:t>
            </a:r>
            <a:r>
              <a:rPr lang="zh-CN" altLang="en-US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4</a:t>
            </a:fld>
            <a:endParaRPr lang="en-US" altLang="zh-TW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8879899"/>
      </p:ext>
    </p:extLst>
  </p:cSld>
  <p:clrMapOvr>
    <a:masterClrMapping/>
  </p:clrMapOvr>
  <p:transition advTm="18216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为什么</a:t>
            </a:r>
            <a:r>
              <a:rPr lang="zh-CN" altLang="en-US" dirty="0" smtClean="0"/>
              <a:t>要</a:t>
            </a:r>
            <a:r>
              <a:rPr lang="zh-CN" altLang="en-US" dirty="0"/>
              <a:t>研究</a:t>
            </a:r>
            <a:r>
              <a:rPr lang="zh-CN" altLang="en-US" dirty="0" smtClean="0"/>
              <a:t>安全分析？</a:t>
            </a:r>
            <a:endParaRPr lang="zh-CN" dirty="0"/>
          </a:p>
        </p:txBody>
      </p:sp>
      <p:sp>
        <p:nvSpPr>
          <p:cNvPr id="9" name="内容占位符 2"/>
          <p:cNvSpPr>
            <a:spLocks noGrp="1"/>
          </p:cNvSpPr>
          <p:nvPr>
            <p:ph idx="4294967295"/>
          </p:nvPr>
        </p:nvSpPr>
        <p:spPr>
          <a:xfrm>
            <a:off x="2622649" y="5605966"/>
            <a:ext cx="4043362" cy="461665"/>
          </a:xfrm>
          <a:noFill/>
        </p:spPr>
        <p:txBody>
          <a:bodyPr wrap="square" rtlCol="0">
            <a:spAutoFit/>
          </a:bodyPr>
          <a:lstStyle/>
          <a:p>
            <a:pPr marL="0" indent="0" algn="ctr">
              <a:spcBef>
                <a:spcPct val="0"/>
              </a:spcBef>
              <a:buNone/>
            </a:pPr>
            <a:r>
              <a:rPr lang="zh-CN" altLang="en-US" sz="240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安全分析工作非常少！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916832"/>
            <a:ext cx="2666667" cy="331428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64" y="2244367"/>
            <a:ext cx="2685714" cy="2542857"/>
          </a:xfrm>
          <a:prstGeom prst="rect">
            <a:avLst/>
          </a:prstGeom>
        </p:spPr>
      </p:pic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4283968" y="3390656"/>
            <a:ext cx="720725" cy="0"/>
          </a:xfrm>
          <a:prstGeom prst="line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en-US">
              <a:solidFill>
                <a:schemeClr val="accent1"/>
              </a:solidFill>
              <a:latin typeface="Arial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763688" y="4686800"/>
            <a:ext cx="2448272" cy="5040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5</a:t>
            </a:fld>
            <a:endParaRPr lang="en-US" altLang="zh-TW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2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安全分析的方法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1541129" y="2060848"/>
            <a:ext cx="6061743" cy="3600986"/>
          </a:xfrm>
          <a:prstGeom prst="rect">
            <a:avLst/>
          </a:prstGeom>
          <a:solidFill>
            <a:srgbClr val="FFFD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唯密文攻击：攻击者仅能获得一些加密过的密文</a:t>
            </a:r>
            <a:r>
              <a:rPr lang="zh-CN" altLang="en-US" sz="2400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en-US" altLang="zh-CN" sz="2400" b="1" dirty="0" smtClean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已知明文攻击：攻击者有一些密文并且知道相对应的明文</a:t>
            </a:r>
            <a:r>
              <a:rPr lang="zh-CN" altLang="en-US" sz="2400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en-US" altLang="zh-CN" sz="2400" b="1" dirty="0" smtClean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选择明文攻击：攻击者在开始攻击之前可以选择一些</a:t>
            </a:r>
            <a:r>
              <a:rPr lang="zh-CN" altLang="en-US" sz="2400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明文</a:t>
            </a:r>
            <a:r>
              <a:rPr lang="zh-CN" altLang="en-US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能</a:t>
            </a:r>
            <a:r>
              <a:rPr lang="zh-CN" altLang="en-US" sz="2400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获得</a:t>
            </a:r>
            <a:r>
              <a:rPr lang="zh-CN" altLang="en-US" sz="2400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相对应的密文</a:t>
            </a:r>
            <a:r>
              <a:rPr lang="zh-CN" altLang="en-US" sz="2400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。</a:t>
            </a:r>
            <a:endParaRPr lang="en-US" altLang="zh-CN" sz="2400" b="1" dirty="0" smtClean="0"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marL="342900" indent="-34290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2400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……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1036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0" y="5963794"/>
            <a:ext cx="9144000" cy="8925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[1] </a:t>
            </a:r>
            <a:r>
              <a:rPr lang="en-US" altLang="zh-CN" sz="1200" dirty="0" err="1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Guodong</a:t>
            </a:r>
            <a:r>
              <a:rPr lang="en-US" altLang="zh-CN" sz="1200" dirty="0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Ye, “</a:t>
            </a:r>
            <a:r>
              <a:rPr lang="en-US" altLang="zh-CN" sz="1400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mage </a:t>
            </a:r>
            <a:r>
              <a:rPr lang="en-US" altLang="zh-CN" sz="1400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crambling </a:t>
            </a:r>
            <a:r>
              <a:rPr lang="en-US" altLang="zh-CN" sz="1400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ncryption </a:t>
            </a:r>
            <a:r>
              <a:rPr lang="en-US" altLang="zh-CN" sz="1400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lgorithm </a:t>
            </a: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of pixel bit based on chaos map</a:t>
            </a:r>
            <a:r>
              <a:rPr lang="en-US" altLang="zh-CN" sz="1200" dirty="0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,” </a:t>
            </a:r>
            <a:r>
              <a:rPr lang="en-US" altLang="zh-CN" sz="1200" i="1" dirty="0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Pattern </a:t>
            </a:r>
            <a:r>
              <a:rPr lang="en-US" altLang="zh-CN" sz="1200" i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Recognition Letters</a:t>
            </a:r>
            <a:r>
              <a:rPr lang="en-US" altLang="zh-CN" sz="1200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, vol. 31, no. 5, pp. 347–354, 2010</a:t>
            </a:r>
            <a:r>
              <a:rPr lang="en-US" altLang="zh-CN" sz="1200" dirty="0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.</a:t>
            </a:r>
          </a:p>
          <a:p>
            <a:r>
              <a:rPr lang="en-US" altLang="zh-CN" sz="1200" dirty="0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[2] </a:t>
            </a:r>
            <a:r>
              <a:rPr lang="en-US" altLang="zh-CN" sz="1200" dirty="0" err="1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Guodong</a:t>
            </a:r>
            <a:r>
              <a:rPr lang="en-US" altLang="zh-CN" sz="1200" dirty="0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Ye and </a:t>
            </a:r>
            <a:r>
              <a:rPr lang="en-US" altLang="zh-CN" sz="1200" dirty="0" err="1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Xiaoling</a:t>
            </a:r>
            <a:r>
              <a:rPr lang="en-US" altLang="zh-CN" sz="1200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Huang, “</a:t>
            </a: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An </a:t>
            </a:r>
            <a:r>
              <a:rPr lang="en-US" altLang="zh-CN" sz="1400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mage </a:t>
            </a:r>
            <a:r>
              <a:rPr lang="en-US" altLang="zh-CN" sz="1400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ncryption algorithm based on </a:t>
            </a:r>
            <a:r>
              <a:rPr lang="en-US" altLang="zh-CN" sz="1400" b="1" dirty="0" err="1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12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utoblocking</a:t>
            </a: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and </a:t>
            </a:r>
            <a:r>
              <a:rPr lang="en-US" altLang="zh-CN" sz="1400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lectrocardiography</a:t>
            </a:r>
            <a:r>
              <a:rPr lang="en-US" altLang="zh-CN" sz="1200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,” </a:t>
            </a:r>
            <a:r>
              <a:rPr lang="en-US" altLang="zh-CN" sz="1200" i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IEEE </a:t>
            </a:r>
            <a:r>
              <a:rPr lang="en-US" altLang="zh-CN" sz="1200" i="1" dirty="0" err="1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MultiMedia</a:t>
            </a:r>
            <a:r>
              <a:rPr lang="en-US" altLang="zh-CN" sz="1200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, vol. 23, no. 2, pp. 64–71, 2016</a:t>
            </a:r>
            <a:r>
              <a:rPr lang="en-US" altLang="zh-CN" sz="1200" dirty="0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.</a:t>
            </a:r>
            <a:endParaRPr lang="en-US" altLang="zh-CN" sz="1200" dirty="0"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本文主要研究内容</a:t>
            </a:r>
            <a:endParaRPr lang="zh-CN" altLang="en-US" dirty="0"/>
          </a:p>
        </p:txBody>
      </p:sp>
      <p:sp>
        <p:nvSpPr>
          <p:cNvPr id="26" name="圆角矩形 25"/>
          <p:cNvSpPr/>
          <p:nvPr/>
        </p:nvSpPr>
        <p:spPr>
          <a:xfrm>
            <a:off x="4427983" y="1268760"/>
            <a:ext cx="3024336" cy="2409151"/>
          </a:xfrm>
          <a:prstGeom prst="roundRect">
            <a:avLst>
              <a:gd name="adj" fmla="val 42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7" name="圆角矩形 26"/>
          <p:cNvSpPr/>
          <p:nvPr/>
        </p:nvSpPr>
        <p:spPr>
          <a:xfrm>
            <a:off x="4427984" y="3885263"/>
            <a:ext cx="3024336" cy="1710780"/>
          </a:xfrm>
          <a:prstGeom prst="roundRect">
            <a:avLst>
              <a:gd name="adj" fmla="val 426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9" name="矩形 28"/>
          <p:cNvSpPr/>
          <p:nvPr/>
        </p:nvSpPr>
        <p:spPr>
          <a:xfrm>
            <a:off x="4672320" y="1494245"/>
            <a:ext cx="2544403" cy="522943"/>
          </a:xfrm>
          <a:prstGeom prst="rect">
            <a:avLst/>
          </a:prstGeom>
          <a:solidFill>
            <a:srgbClr val="FFFDCC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唯密文攻击</a:t>
            </a:r>
          </a:p>
        </p:txBody>
      </p:sp>
      <p:sp>
        <p:nvSpPr>
          <p:cNvPr id="30" name="矩形 29"/>
          <p:cNvSpPr/>
          <p:nvPr/>
        </p:nvSpPr>
        <p:spPr>
          <a:xfrm>
            <a:off x="4672319" y="2218179"/>
            <a:ext cx="2544403" cy="537930"/>
          </a:xfrm>
          <a:prstGeom prst="rect">
            <a:avLst/>
          </a:prstGeom>
          <a:solidFill>
            <a:srgbClr val="FFFDCC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已知明文攻击</a:t>
            </a:r>
          </a:p>
        </p:txBody>
      </p:sp>
      <p:sp>
        <p:nvSpPr>
          <p:cNvPr id="34" name="矩形 33"/>
          <p:cNvSpPr/>
          <p:nvPr/>
        </p:nvSpPr>
        <p:spPr>
          <a:xfrm>
            <a:off x="4673931" y="4111973"/>
            <a:ext cx="2544403" cy="523266"/>
          </a:xfrm>
          <a:prstGeom prst="rect">
            <a:avLst/>
          </a:prstGeom>
          <a:solidFill>
            <a:srgbClr val="FFFDCC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已知明文攻击</a:t>
            </a:r>
          </a:p>
        </p:txBody>
      </p:sp>
      <p:sp>
        <p:nvSpPr>
          <p:cNvPr id="35" name="矩形 34"/>
          <p:cNvSpPr/>
          <p:nvPr/>
        </p:nvSpPr>
        <p:spPr>
          <a:xfrm>
            <a:off x="4663029" y="4871932"/>
            <a:ext cx="2553693" cy="537930"/>
          </a:xfrm>
          <a:prstGeom prst="rect">
            <a:avLst/>
          </a:prstGeom>
          <a:solidFill>
            <a:srgbClr val="FFFDCC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安全</a:t>
            </a:r>
            <a:r>
              <a:rPr lang="zh-CN" altLang="en-US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漏洞</a:t>
            </a:r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挖掘</a:t>
            </a:r>
          </a:p>
        </p:txBody>
      </p:sp>
      <p:sp>
        <p:nvSpPr>
          <p:cNvPr id="28" name="Rounded Rectangle 53"/>
          <p:cNvSpPr/>
          <p:nvPr/>
        </p:nvSpPr>
        <p:spPr>
          <a:xfrm>
            <a:off x="1347361" y="1710127"/>
            <a:ext cx="2615709" cy="1441143"/>
          </a:xfrm>
          <a:prstGeom prst="roundRect">
            <a:avLst>
              <a:gd name="adj" fmla="val 773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rtlCol="0" anchor="t" anchorCtr="0"/>
          <a:lstStyle/>
          <a:p>
            <a:pPr algn="ctr">
              <a:lnSpc>
                <a:spcPct val="300000"/>
              </a:lnSpc>
            </a:pPr>
            <a:r>
              <a:rPr lang="zh-CN" altLang="en-US" sz="2000" b="1" dirty="0" smtClean="0">
                <a:latin typeface="微软雅黑" pitchFamily="34" charset="-122"/>
                <a:ea typeface="微软雅黑" pitchFamily="34" charset="-122"/>
              </a:rPr>
              <a:t>针对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ISEA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的安全分析</a:t>
            </a:r>
          </a:p>
        </p:txBody>
      </p:sp>
      <p:sp>
        <p:nvSpPr>
          <p:cNvPr id="47" name="Rounded Rectangle 53"/>
          <p:cNvSpPr/>
          <p:nvPr/>
        </p:nvSpPr>
        <p:spPr>
          <a:xfrm>
            <a:off x="1347902" y="4023479"/>
            <a:ext cx="2615168" cy="1434347"/>
          </a:xfrm>
          <a:prstGeom prst="roundRect">
            <a:avLst>
              <a:gd name="adj" fmla="val 7737"/>
            </a:avLst>
          </a:prstGeom>
          <a:solidFill>
            <a:schemeClr val="bg1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rtlCol="0" anchor="t" anchorCtr="0"/>
          <a:lstStyle/>
          <a:p>
            <a:pPr algn="ctr">
              <a:lnSpc>
                <a:spcPct val="300000"/>
              </a:lnSpc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针对</a:t>
            </a:r>
            <a:r>
              <a:rPr lang="en-US" altLang="zh-CN" sz="2000" b="1" dirty="0">
                <a:latin typeface="微软雅黑" pitchFamily="34" charset="-122"/>
                <a:ea typeface="微软雅黑" pitchFamily="34" charset="-122"/>
              </a:rPr>
              <a:t>IEAE</a:t>
            </a: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的安全分析</a:t>
            </a:r>
          </a:p>
        </p:txBody>
      </p:sp>
      <p:sp>
        <p:nvSpPr>
          <p:cNvPr id="48" name="矩形 47"/>
          <p:cNvSpPr/>
          <p:nvPr/>
        </p:nvSpPr>
        <p:spPr>
          <a:xfrm>
            <a:off x="4672319" y="2930272"/>
            <a:ext cx="2544403" cy="522943"/>
          </a:xfrm>
          <a:prstGeom prst="rect">
            <a:avLst/>
          </a:prstGeom>
          <a:solidFill>
            <a:srgbClr val="FFFDCC"/>
          </a:solidFill>
          <a:ln w="254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2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选择明文攻击</a:t>
            </a:r>
          </a:p>
        </p:txBody>
      </p:sp>
      <p:sp>
        <p:nvSpPr>
          <p:cNvPr id="41" name="右箭头 40"/>
          <p:cNvSpPr/>
          <p:nvPr/>
        </p:nvSpPr>
        <p:spPr>
          <a:xfrm>
            <a:off x="3954389" y="2306182"/>
            <a:ext cx="472588" cy="257074"/>
          </a:xfrm>
          <a:prstGeom prst="righ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endParaRPr lang="zh-CN" altLang="en-US">
              <a:solidFill>
                <a:schemeClr val="accent1"/>
              </a:solidFill>
              <a:latin typeface="Arial" charset="0"/>
              <a:ea typeface="PMingLiU" pitchFamily="18" charset="-120"/>
            </a:endParaRPr>
          </a:p>
        </p:txBody>
      </p:sp>
      <p:sp>
        <p:nvSpPr>
          <p:cNvPr id="44" name="右箭头 43"/>
          <p:cNvSpPr/>
          <p:nvPr/>
        </p:nvSpPr>
        <p:spPr>
          <a:xfrm>
            <a:off x="3974796" y="4649364"/>
            <a:ext cx="459069" cy="257074"/>
          </a:xfrm>
          <a:prstGeom prst="rightArrow">
            <a:avLst/>
          </a:prstGeom>
          <a:solidFill>
            <a:schemeClr val="accent1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eaLnBrk="1" hangingPunct="1"/>
            <a:endParaRPr lang="zh-CN" altLang="en-US">
              <a:solidFill>
                <a:schemeClr val="accent1"/>
              </a:solidFill>
              <a:latin typeface="Arial" charset="0"/>
            </a:endParaRPr>
          </a:p>
        </p:txBody>
      </p:sp>
      <p:sp>
        <p:nvSpPr>
          <p:cNvPr id="55" name="灯片编号占位符 5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2577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ISEA</a:t>
            </a:r>
            <a:r>
              <a:rPr lang="zh-CN" altLang="en-US" dirty="0" smtClean="0"/>
              <a:t>加密算法描述</a:t>
            </a:r>
            <a:endParaRPr lang="zh-CN" altLang="en-US" dirty="0"/>
          </a:p>
        </p:txBody>
      </p:sp>
      <p:sp>
        <p:nvSpPr>
          <p:cNvPr id="13" name="圆角矩形 12"/>
          <p:cNvSpPr/>
          <p:nvPr/>
        </p:nvSpPr>
        <p:spPr bwMode="auto">
          <a:xfrm>
            <a:off x="1163916" y="5068981"/>
            <a:ext cx="1554802" cy="720080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原图像</a:t>
            </a:r>
          </a:p>
        </p:txBody>
      </p:sp>
      <p:sp>
        <p:nvSpPr>
          <p:cNvPr id="14" name="右箭头 13"/>
          <p:cNvSpPr/>
          <p:nvPr/>
        </p:nvSpPr>
        <p:spPr bwMode="auto">
          <a:xfrm>
            <a:off x="2718718" y="5325360"/>
            <a:ext cx="778828" cy="258256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latin typeface="Arial" charset="0"/>
            </a:endParaRPr>
          </a:p>
        </p:txBody>
      </p:sp>
      <p:sp>
        <p:nvSpPr>
          <p:cNvPr id="17" name="圆角矩形 16"/>
          <p:cNvSpPr/>
          <p:nvPr/>
        </p:nvSpPr>
        <p:spPr bwMode="auto">
          <a:xfrm>
            <a:off x="3497546" y="5044798"/>
            <a:ext cx="2346890" cy="720080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二进制图像</a:t>
            </a:r>
            <a:endParaRPr kumimoji="1" lang="zh-CN" altLang="en-US" sz="3200" b="0" i="0" u="none" strike="noStrike" cap="none" normalizeH="0" baseline="0" dirty="0" smtClean="0"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右箭头 17"/>
          <p:cNvSpPr/>
          <p:nvPr/>
        </p:nvSpPr>
        <p:spPr bwMode="auto">
          <a:xfrm>
            <a:off x="5844436" y="5325360"/>
            <a:ext cx="778828" cy="259498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latin typeface="Arial" charset="0"/>
            </a:endParaRPr>
          </a:p>
        </p:txBody>
      </p:sp>
      <p:sp>
        <p:nvSpPr>
          <p:cNvPr id="19" name="圆角矩形 18"/>
          <p:cNvSpPr/>
          <p:nvPr/>
        </p:nvSpPr>
        <p:spPr bwMode="auto">
          <a:xfrm>
            <a:off x="6623264" y="5044798"/>
            <a:ext cx="1914842" cy="720080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加密图像</a:t>
            </a:r>
          </a:p>
        </p:txBody>
      </p:sp>
      <p:sp>
        <p:nvSpPr>
          <p:cNvPr id="20" name="圆角矩形 19"/>
          <p:cNvSpPr/>
          <p:nvPr/>
        </p:nvSpPr>
        <p:spPr bwMode="auto">
          <a:xfrm>
            <a:off x="726150" y="1700808"/>
            <a:ext cx="1819178" cy="1255757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36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Logistic</a:t>
            </a:r>
            <a:r>
              <a:rPr lang="zh-CN" altLang="en-US" sz="36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映射</a:t>
            </a:r>
            <a:endParaRPr kumimoji="1" lang="zh-CN" altLang="en-US" sz="3600" b="0" i="0" u="none" strike="noStrike" cap="none" normalizeH="0" baseline="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573039" y="2725771"/>
            <a:ext cx="858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2"/>
              </a:buClr>
              <a:buSzPct val="70000"/>
            </a:pPr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排序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8</a:t>
            </a:fld>
            <a:endParaRPr lang="en-US" altLang="zh-TW" dirty="0"/>
          </a:p>
        </p:txBody>
      </p:sp>
      <p:sp>
        <p:nvSpPr>
          <p:cNvPr id="15" name="圆角矩形 14"/>
          <p:cNvSpPr/>
          <p:nvPr/>
        </p:nvSpPr>
        <p:spPr bwMode="auto">
          <a:xfrm>
            <a:off x="3324156" y="1951166"/>
            <a:ext cx="2693670" cy="720080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6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伪随机序列</a:t>
            </a:r>
            <a:endParaRPr kumimoji="1" lang="zh-CN" altLang="en-US" sz="3600" b="0" i="0" u="none" strike="noStrike" cap="none" normalizeH="0" baseline="0" dirty="0" smtClean="0">
              <a:solidFill>
                <a:schemeClr val="tx1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右箭头 15"/>
          <p:cNvSpPr/>
          <p:nvPr/>
        </p:nvSpPr>
        <p:spPr bwMode="auto">
          <a:xfrm>
            <a:off x="2545328" y="2198843"/>
            <a:ext cx="778828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latin typeface="Arial" charset="0"/>
            </a:endParaRPr>
          </a:p>
        </p:txBody>
      </p:sp>
      <p:sp>
        <p:nvSpPr>
          <p:cNvPr id="21" name="圆角矩形 20"/>
          <p:cNvSpPr/>
          <p:nvPr/>
        </p:nvSpPr>
        <p:spPr bwMode="auto">
          <a:xfrm>
            <a:off x="3491880" y="3316643"/>
            <a:ext cx="2162318" cy="1187584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zh-CN" altLang="en-US" sz="36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行、列置换向量</a:t>
            </a:r>
          </a:p>
        </p:txBody>
      </p:sp>
      <p:sp>
        <p:nvSpPr>
          <p:cNvPr id="23" name="右箭头 22"/>
          <p:cNvSpPr/>
          <p:nvPr/>
        </p:nvSpPr>
        <p:spPr bwMode="auto">
          <a:xfrm rot="5400000">
            <a:off x="4125718" y="2869326"/>
            <a:ext cx="645399" cy="249242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latin typeface="Arial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5804595" y="4761797"/>
            <a:ext cx="858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2"/>
              </a:buClr>
              <a:buSzPct val="70000"/>
            </a:pPr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置乱</a:t>
            </a:r>
          </a:p>
        </p:txBody>
      </p:sp>
      <p:sp>
        <p:nvSpPr>
          <p:cNvPr id="27" name="右箭头 26"/>
          <p:cNvSpPr/>
          <p:nvPr/>
        </p:nvSpPr>
        <p:spPr bwMode="auto">
          <a:xfrm rot="5400000">
            <a:off x="4178132" y="4649893"/>
            <a:ext cx="540574" cy="249241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latin typeface="Arial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107876" y="2774867"/>
            <a:ext cx="2712596" cy="1679745"/>
            <a:chOff x="6107876" y="2733246"/>
            <a:chExt cx="2712596" cy="1679745"/>
          </a:xfrm>
        </p:grpSpPr>
        <p:grpSp>
          <p:nvGrpSpPr>
            <p:cNvPr id="4" name="组合 3"/>
            <p:cNvGrpSpPr/>
            <p:nvPr/>
          </p:nvGrpSpPr>
          <p:grpSpPr>
            <a:xfrm>
              <a:off x="6107878" y="2733246"/>
              <a:ext cx="2712594" cy="1030755"/>
              <a:chOff x="5998953" y="2305197"/>
              <a:chExt cx="2712594" cy="1030755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5998953" y="2305197"/>
                <a:ext cx="2712594" cy="646331"/>
              </a:xfrm>
              <a:prstGeom prst="rect">
                <a:avLst/>
              </a:prstGeom>
              <a:solidFill>
                <a:srgbClr val="FFFDC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latin typeface="Consolas" panose="020B0609020204030204" pitchFamily="49" charset="0"/>
                  </a:rPr>
                  <a:t>126 130 </a:t>
                </a:r>
                <a:r>
                  <a:rPr lang="en-US" altLang="zh-CN" dirty="0" smtClean="0">
                    <a:latin typeface="Consolas" panose="020B0609020204030204" pitchFamily="49" charset="0"/>
                  </a:rPr>
                  <a:t>……</a:t>
                </a:r>
              </a:p>
              <a:p>
                <a:r>
                  <a:rPr lang="en-US" altLang="zh-CN" dirty="0" smtClean="0">
                    <a:latin typeface="Consolas" panose="020B0609020204030204" pitchFamily="49" charset="0"/>
                  </a:rPr>
                  <a:t>128 255 ……</a:t>
                </a:r>
                <a:endParaRPr lang="zh-CN" altLang="en-US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24" name="右箭头 23"/>
              <p:cNvSpPr/>
              <p:nvPr/>
            </p:nvSpPr>
            <p:spPr bwMode="auto">
              <a:xfrm rot="5400000">
                <a:off x="7157258" y="3013341"/>
                <a:ext cx="395981" cy="249241"/>
              </a:xfrm>
              <a:prstGeom prst="rightArrow">
                <a:avLst/>
              </a:prstGeom>
              <a:solidFill>
                <a:schemeClr val="accent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zh-CN" altLang="en-US">
                  <a:latin typeface="Arial" charset="0"/>
                </a:endParaRPr>
              </a:p>
            </p:txBody>
          </p:sp>
        </p:grpSp>
        <p:sp>
          <p:nvSpPr>
            <p:cNvPr id="28" name="文本框 27"/>
            <p:cNvSpPr txBox="1"/>
            <p:nvPr/>
          </p:nvSpPr>
          <p:spPr>
            <a:xfrm>
              <a:off x="6107876" y="3766660"/>
              <a:ext cx="2712596" cy="646331"/>
            </a:xfrm>
            <a:prstGeom prst="rect">
              <a:avLst/>
            </a:prstGeom>
            <a:solidFill>
              <a:srgbClr val="FFFDCC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>
                  <a:latin typeface="Consolas" panose="020B0609020204030204" pitchFamily="49" charset="0"/>
                </a:rPr>
                <a:t>01111110 10000010 </a:t>
              </a:r>
              <a:r>
                <a:rPr lang="en-US" altLang="zh-CN" dirty="0" smtClean="0">
                  <a:latin typeface="Consolas" panose="020B0609020204030204" pitchFamily="49" charset="0"/>
                </a:rPr>
                <a:t>……</a:t>
              </a:r>
            </a:p>
            <a:p>
              <a:r>
                <a:rPr lang="en-US" altLang="zh-CN" dirty="0" smtClean="0">
                  <a:latin typeface="Consolas" panose="020B0609020204030204" pitchFamily="49" charset="0"/>
                </a:rPr>
                <a:t>10000000 11111111 ……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88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 bwMode="auto">
          <a:xfrm>
            <a:off x="683569" y="4305503"/>
            <a:ext cx="7776864" cy="1427754"/>
          </a:xfrm>
          <a:prstGeom prst="rect">
            <a:avLst/>
          </a:prstGeom>
          <a:solidFill>
            <a:srgbClr val="FFFD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714902" y="1748858"/>
            <a:ext cx="7776864" cy="1572650"/>
          </a:xfrm>
          <a:prstGeom prst="rect">
            <a:avLst/>
          </a:prstGeom>
          <a:solidFill>
            <a:srgbClr val="FFFD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针对</a:t>
            </a:r>
            <a:r>
              <a:rPr lang="en-US" altLang="zh-CN" dirty="0" smtClean="0"/>
              <a:t>ISEA</a:t>
            </a:r>
            <a:r>
              <a:rPr lang="zh-CN" altLang="en-US" dirty="0" smtClean="0"/>
              <a:t>的唯密文攻击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6497" y="6284113"/>
            <a:ext cx="7430085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sz="1200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. D. Tubbs, “</a:t>
            </a: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 note on binary template matching</a:t>
            </a:r>
            <a:r>
              <a:rPr lang="en-US" altLang="zh-CN" sz="1200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,” Pattern Recognition, vol. 22, no. 4, pp. 359–365, 1989.</a:t>
            </a:r>
          </a:p>
        </p:txBody>
      </p:sp>
      <p:pic>
        <p:nvPicPr>
          <p:cNvPr id="10" name="图片 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367" y="2165168"/>
            <a:ext cx="7275935" cy="1057459"/>
          </a:xfrm>
          <a:prstGeom prst="rect">
            <a:avLst/>
          </a:prstGeom>
        </p:spPr>
      </p:pic>
      <p:pic>
        <p:nvPicPr>
          <p:cNvPr id="11" name="图片 10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034" y="4477130"/>
            <a:ext cx="7275934" cy="1040102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3400878" y="1748858"/>
            <a:ext cx="2342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2"/>
              </a:buClr>
              <a:buSzPct val="70000"/>
            </a:pPr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二进制加密图像</a:t>
            </a:r>
          </a:p>
        </p:txBody>
      </p:sp>
      <p:sp>
        <p:nvSpPr>
          <p:cNvPr id="19" name="下箭头 18"/>
          <p:cNvSpPr/>
          <p:nvPr/>
        </p:nvSpPr>
        <p:spPr bwMode="auto">
          <a:xfrm>
            <a:off x="2989556" y="3307283"/>
            <a:ext cx="350402" cy="975578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>
              <a:latin typeface="Arial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251129" y="3542651"/>
            <a:ext cx="2641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2"/>
              </a:buClr>
              <a:buSzPct val="70000"/>
            </a:pPr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按相关性进行攻击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9</a:t>
            </a:fld>
            <a:endParaRPr lang="en-US" altLang="zh-TW" dirty="0"/>
          </a:p>
        </p:txBody>
      </p:sp>
      <p:sp>
        <p:nvSpPr>
          <p:cNvPr id="2" name="矩形 1"/>
          <p:cNvSpPr/>
          <p:nvPr/>
        </p:nvSpPr>
        <p:spPr bwMode="auto">
          <a:xfrm>
            <a:off x="1925120" y="4477130"/>
            <a:ext cx="1009844" cy="104010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2746207" y="4477130"/>
            <a:ext cx="1009844" cy="104010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3524221" y="4477130"/>
            <a:ext cx="1009844" cy="104010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943312" y="4477130"/>
            <a:ext cx="1009844" cy="1040102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175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 bwMode="auto">
          <a:xfrm>
            <a:off x="5508104" y="2524794"/>
            <a:ext cx="2520280" cy="1817456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 smtClean="0">
              <a:noFill/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针对</a:t>
            </a:r>
            <a:r>
              <a:rPr lang="en-US" altLang="zh-CN" dirty="0"/>
              <a:t>ISEA</a:t>
            </a:r>
            <a:r>
              <a:rPr lang="zh-CN" altLang="en-US" dirty="0"/>
              <a:t>的已知明文攻击</a:t>
            </a:r>
            <a:endParaRPr lang="zh-CN" altLang="en-US" sz="28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10</a:t>
            </a:fld>
            <a:endParaRPr lang="en-US" altLang="zh-TW" dirty="0"/>
          </a:p>
        </p:txBody>
      </p:sp>
      <p:sp>
        <p:nvSpPr>
          <p:cNvPr id="12" name="圆角矩形 11"/>
          <p:cNvSpPr/>
          <p:nvPr/>
        </p:nvSpPr>
        <p:spPr bwMode="auto">
          <a:xfrm>
            <a:off x="1295636" y="2507538"/>
            <a:ext cx="2520280" cy="1817456"/>
          </a:xfrm>
          <a:prstGeom prst="round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0" u="none" strike="noStrike" cap="none" normalizeH="0" baseline="0" dirty="0" smtClean="0">
              <a:noFill/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2447764" y="3200242"/>
            <a:ext cx="180020" cy="188648"/>
          </a:xfrm>
          <a:prstGeom prst="ellipse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95635" y="1916832"/>
            <a:ext cx="2520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zh-CN" altLang="en-US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原图像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501208" y="1916832"/>
            <a:ext cx="2520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zh-CN" altLang="en-US" b="1" dirty="0">
                <a:latin typeface="华文细黑" panose="02010600040101010101" pitchFamily="2" charset="-122"/>
                <a:ea typeface="华文细黑" panose="02010600040101010101" pitchFamily="2" charset="-122"/>
              </a:rPr>
              <a:t>密文</a:t>
            </a:r>
            <a:r>
              <a:rPr lang="zh-CN" altLang="en-US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图像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01570" y="3127280"/>
            <a:ext cx="612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en-US" altLang="zh-CN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M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123728" y="4324994"/>
            <a:ext cx="864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en-US" altLang="zh-CN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8N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878034" y="3172866"/>
            <a:ext cx="612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en-US" altLang="zh-CN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M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300192" y="4370580"/>
            <a:ext cx="8640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en-US" altLang="zh-CN" b="1" dirty="0" smtClean="0">
                <a:latin typeface="华文细黑" panose="02010600040101010101" pitchFamily="2" charset="-122"/>
                <a:ea typeface="华文细黑" panose="02010600040101010101" pitchFamily="2" charset="-122"/>
              </a:rPr>
              <a:t>8N</a:t>
            </a:r>
            <a:endParaRPr lang="zh-CN" altLang="en-US" b="1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26497" y="6284113"/>
            <a:ext cx="7430085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200" dirty="0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Liang Zhao, </a:t>
            </a:r>
            <a:r>
              <a:rPr lang="en-US" altLang="zh-CN" sz="1200" dirty="0" err="1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Avishek</a:t>
            </a:r>
            <a:r>
              <a:rPr lang="en-US" altLang="zh-CN" sz="1200" dirty="0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 err="1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Adhikari</a:t>
            </a:r>
            <a:r>
              <a:rPr lang="en-US" altLang="zh-CN" sz="1200" dirty="0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, Di Xiao, </a:t>
            </a:r>
            <a:r>
              <a:rPr lang="en-US" altLang="zh-CN" sz="1200" dirty="0" err="1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Kouichi</a:t>
            </a:r>
            <a:r>
              <a:rPr lang="en-US" altLang="zh-CN" sz="1200" dirty="0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Sakurai, “</a:t>
            </a: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Cryptanalysis on an </a:t>
            </a:r>
            <a:r>
              <a:rPr lang="en-US" altLang="zh-CN" sz="1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image scrambling </a:t>
            </a:r>
            <a:r>
              <a:rPr lang="en-US" altLang="zh-CN" sz="1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encryption scheme based on pixel bit</a:t>
            </a:r>
            <a:r>
              <a:rPr lang="en-US" altLang="zh-CN" sz="1200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,” </a:t>
            </a:r>
            <a:r>
              <a:rPr lang="en-US" altLang="zh-CN" sz="1200" i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Lecture Notes in </a:t>
            </a:r>
            <a:r>
              <a:rPr lang="en-US" altLang="zh-CN" sz="1200" i="1" dirty="0" smtClean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Computer Science</a:t>
            </a:r>
            <a:r>
              <a:rPr lang="en-US" altLang="zh-CN" sz="1200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, vol. 6526, pp. 45–59, 2011.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572403" y="2708920"/>
            <a:ext cx="8087168" cy="1559690"/>
            <a:chOff x="572402" y="3153375"/>
            <a:chExt cx="8248071" cy="1559690"/>
          </a:xfrm>
          <a:solidFill>
            <a:srgbClr val="FFFDCC"/>
          </a:solidFill>
        </p:grpSpPr>
        <p:sp>
          <p:nvSpPr>
            <p:cNvPr id="26" name="圆角矩形 25"/>
            <p:cNvSpPr/>
            <p:nvPr/>
          </p:nvSpPr>
          <p:spPr bwMode="auto">
            <a:xfrm>
              <a:off x="572402" y="3153375"/>
              <a:ext cx="8248071" cy="1559690"/>
            </a:xfrm>
            <a:prstGeom prst="roundRect">
              <a:avLst/>
            </a:prstGeom>
            <a:grpFill/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4400" b="0" i="0" u="none" strike="noStrike" cap="none" normalizeH="0" baseline="0" dirty="0" smtClean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/>
                <p:cNvSpPr txBox="1"/>
                <p:nvPr/>
              </p:nvSpPr>
              <p:spPr>
                <a:xfrm>
                  <a:off x="1672052" y="3573016"/>
                  <a:ext cx="6048672" cy="707886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4000" dirty="0" smtClean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置换域大小为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40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M</m:t>
                      </m:r>
                      <m:r>
                        <a:rPr lang="en-US" altLang="zh-CN" sz="40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×</m:t>
                      </m:r>
                      <m:r>
                        <a:rPr lang="en-US" altLang="zh-CN" sz="40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8</m:t>
                      </m:r>
                      <m:r>
                        <a:rPr lang="en-US" altLang="zh-CN" sz="40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𝑁</m:t>
                      </m:r>
                    </m:oMath>
                  </a14:m>
                  <a:r>
                    <a:rPr lang="en-US" altLang="zh-CN" sz="4000" dirty="0" smtClean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?</a:t>
                  </a:r>
                  <a:endParaRPr lang="zh-CN" altLang="en-US" sz="40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7" name="文本框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2052" y="3573016"/>
                  <a:ext cx="6048672" cy="707886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t="-18966" b="-327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7078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07407E-6 L 0.41545 -0.03402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64" y="-1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07407E-6 L 0.48524 0.0949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253" y="4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针对</a:t>
            </a:r>
            <a:r>
              <a:rPr lang="en-US" altLang="zh-CN" dirty="0" smtClean="0"/>
              <a:t>ISEA</a:t>
            </a:r>
            <a:r>
              <a:rPr lang="zh-CN" altLang="en-US" dirty="0" smtClean="0"/>
              <a:t>的</a:t>
            </a:r>
            <a:r>
              <a:rPr lang="zh-CN" altLang="en-US" dirty="0"/>
              <a:t>已知明文</a:t>
            </a:r>
            <a:r>
              <a:rPr lang="zh-CN" altLang="en-US" dirty="0" smtClean="0"/>
              <a:t>攻击</a:t>
            </a: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11</a:t>
            </a:fld>
            <a:endParaRPr lang="en-US" altLang="zh-TW" dirty="0"/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636" y="1556792"/>
            <a:ext cx="3331372" cy="2664296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636" y="1556792"/>
            <a:ext cx="3331372" cy="2664296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6652" y="1556792"/>
            <a:ext cx="3095193" cy="2664296"/>
          </a:xfrm>
          <a:prstGeom prst="rect">
            <a:avLst/>
          </a:prstGeom>
        </p:spPr>
      </p:pic>
      <p:sp>
        <p:nvSpPr>
          <p:cNvPr id="45" name="圆角矩形 44"/>
          <p:cNvSpPr/>
          <p:nvPr/>
        </p:nvSpPr>
        <p:spPr bwMode="auto">
          <a:xfrm>
            <a:off x="7092280" y="1899244"/>
            <a:ext cx="1554802" cy="1800200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行列置换的唯一特征</a:t>
            </a:r>
            <a:endParaRPr kumimoji="1" lang="zh-CN" altLang="en-US" sz="3200" b="0" i="0" u="none" strike="noStrike" cap="none" normalizeH="0" baseline="0" dirty="0" smtClean="0"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2636" y="4149080"/>
            <a:ext cx="3331372" cy="2694457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6652" y="4145077"/>
            <a:ext cx="1800200" cy="2698460"/>
          </a:xfrm>
          <a:prstGeom prst="rect">
            <a:avLst/>
          </a:prstGeom>
        </p:spPr>
      </p:pic>
      <p:sp>
        <p:nvSpPr>
          <p:cNvPr id="49" name="圆角矩形 48"/>
          <p:cNvSpPr/>
          <p:nvPr/>
        </p:nvSpPr>
        <p:spPr bwMode="auto">
          <a:xfrm>
            <a:off x="572402" y="1653797"/>
            <a:ext cx="648071" cy="2279259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2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首次迭代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" name="圆角矩形 49"/>
          <p:cNvSpPr/>
          <p:nvPr/>
        </p:nvSpPr>
        <p:spPr bwMode="auto">
          <a:xfrm>
            <a:off x="572402" y="4354677"/>
            <a:ext cx="648071" cy="2279259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正交关系</a:t>
            </a:r>
          </a:p>
        </p:txBody>
      </p:sp>
      <p:sp>
        <p:nvSpPr>
          <p:cNvPr id="51" name="圆角矩形 50"/>
          <p:cNvSpPr/>
          <p:nvPr/>
        </p:nvSpPr>
        <p:spPr bwMode="auto">
          <a:xfrm>
            <a:off x="7092280" y="4354676"/>
            <a:ext cx="1554802" cy="2179051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利用已有关系确定唯一特征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59914" y="3168500"/>
            <a:ext cx="8087168" cy="1559690"/>
            <a:chOff x="572402" y="3153375"/>
            <a:chExt cx="8248071" cy="1559690"/>
          </a:xfrm>
          <a:solidFill>
            <a:srgbClr val="FFFDCC"/>
          </a:solidFill>
        </p:grpSpPr>
        <p:sp>
          <p:nvSpPr>
            <p:cNvPr id="14" name="圆角矩形 13"/>
            <p:cNvSpPr/>
            <p:nvPr/>
          </p:nvSpPr>
          <p:spPr bwMode="auto">
            <a:xfrm>
              <a:off x="572402" y="3153375"/>
              <a:ext cx="8248071" cy="1559690"/>
            </a:xfrm>
            <a:prstGeom prst="roundRect">
              <a:avLst/>
            </a:prstGeom>
            <a:grpFill/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4400" b="0" i="0" u="none" strike="noStrike" cap="none" normalizeH="0" baseline="0" dirty="0" smtClean="0"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1672052" y="3573016"/>
                  <a:ext cx="6048672" cy="707886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40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置换域大小为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40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M</m:t>
                      </m:r>
                      <m:r>
                        <a:rPr lang="en-US" altLang="zh-CN" sz="40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+8</m:t>
                      </m:r>
                      <m:r>
                        <a:rPr lang="en-US" altLang="zh-CN" sz="4000" i="1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𝑁</m:t>
                      </m:r>
                    </m:oMath>
                  </a14:m>
                  <a:endParaRPr lang="zh-CN" altLang="en-US" sz="4000" dirty="0">
                    <a:latin typeface="黑体" panose="02010609060101010101" pitchFamily="49" charset="-122"/>
                    <a:ea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2052" y="3573016"/>
                  <a:ext cx="6048672" cy="707886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t="-18966" b="-327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7294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41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3.7037E-6 L 0.34549 -0.11019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274" y="-55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44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3.7037E-6 L 0.34254 0.0787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18" y="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2.59259E-6 L 0.38194 0.00324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97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5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针对</a:t>
            </a:r>
            <a:r>
              <a:rPr lang="en-US" altLang="zh-CN" dirty="0"/>
              <a:t>ISEA</a:t>
            </a:r>
            <a:r>
              <a:rPr lang="zh-CN" altLang="en-US" dirty="0"/>
              <a:t>的已知明文攻击</a:t>
            </a:r>
            <a:endParaRPr lang="zh-CN" altLang="en-US" sz="2800" dirty="0"/>
          </a:p>
        </p:txBody>
      </p:sp>
      <p:pic>
        <p:nvPicPr>
          <p:cNvPr id="22" name="图片 21"/>
          <p:cNvPicPr/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3" y="1452563"/>
            <a:ext cx="6624735" cy="5101601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12</a:t>
            </a:fld>
            <a:endParaRPr lang="en-US" altLang="zh-TW" dirty="0"/>
          </a:p>
        </p:txBody>
      </p:sp>
      <p:sp>
        <p:nvSpPr>
          <p:cNvPr id="2" name="右箭头 1"/>
          <p:cNvSpPr/>
          <p:nvPr/>
        </p:nvSpPr>
        <p:spPr bwMode="auto">
          <a:xfrm rot="11837311">
            <a:off x="2335799" y="3915053"/>
            <a:ext cx="443318" cy="525394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7" name="右箭头 6"/>
          <p:cNvSpPr/>
          <p:nvPr/>
        </p:nvSpPr>
        <p:spPr bwMode="auto">
          <a:xfrm rot="11837311">
            <a:off x="3055879" y="2258869"/>
            <a:ext cx="443318" cy="525394"/>
          </a:xfrm>
          <a:prstGeom prst="right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408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针对</a:t>
            </a:r>
            <a:r>
              <a:rPr lang="en-US" altLang="zh-CN" dirty="0"/>
              <a:t>ISEA</a:t>
            </a:r>
            <a:r>
              <a:rPr lang="zh-CN" altLang="en-US" dirty="0" smtClean="0"/>
              <a:t>的</a:t>
            </a:r>
            <a:r>
              <a:rPr lang="zh-CN" altLang="en-US" dirty="0"/>
              <a:t>选择</a:t>
            </a:r>
            <a:r>
              <a:rPr lang="zh-CN" altLang="en-US" dirty="0" smtClean="0"/>
              <a:t>明文</a:t>
            </a:r>
            <a:r>
              <a:rPr lang="zh-CN" altLang="en-US" dirty="0"/>
              <a:t>攻击</a:t>
            </a:r>
            <a:endParaRPr lang="zh-CN" altLang="en-US" sz="2800" dirty="0"/>
          </a:p>
        </p:txBody>
      </p:sp>
      <p:sp>
        <p:nvSpPr>
          <p:cNvPr id="24" name="文本框 23"/>
          <p:cNvSpPr txBox="1"/>
          <p:nvPr/>
        </p:nvSpPr>
        <p:spPr>
          <a:xfrm>
            <a:off x="1907704" y="4633972"/>
            <a:ext cx="60860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algn="ctr"/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构造唯一特征元素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2263433"/>
            <a:ext cx="5938551" cy="2448272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13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8978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 bwMode="auto">
          <a:xfrm>
            <a:off x="3332628" y="1916832"/>
            <a:ext cx="2224040" cy="1651854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lang="en-US" altLang="zh-CN" sz="2800" dirty="0" smtClean="0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Logistic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映射</a:t>
            </a:r>
            <a:endParaRPr lang="en-US" altLang="zh-CN" sz="2800" dirty="0">
              <a:solidFill>
                <a:schemeClr val="tx1"/>
              </a:solidFill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Arnold</a:t>
            </a:r>
            <a:r>
              <a:rPr lang="zh-CN" altLang="en-US" sz="2800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映射</a:t>
            </a:r>
            <a:endParaRPr lang="zh-CN" altLang="en-US" sz="2800" dirty="0">
              <a:solidFill>
                <a:schemeClr val="tx1"/>
              </a:solidFill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圆角矩形 20"/>
              <p:cNvSpPr/>
              <p:nvPr/>
            </p:nvSpPr>
            <p:spPr bwMode="auto">
              <a:xfrm>
                <a:off x="778033" y="1916832"/>
                <a:ext cx="2281799" cy="1656184"/>
              </a:xfrm>
              <a:prstGeom prst="roundRect">
                <a:avLst/>
              </a:prstGeom>
              <a:ln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tx1"/>
                    </a:solidFill>
                    <a:ea typeface="华文细黑" panose="02010600040101010101" pitchFamily="2" charset="-122"/>
                  </a:rPr>
                  <a:t>计算心电图信号的最大李氏指数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圆角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8033" y="1916832"/>
                <a:ext cx="2281799" cy="1656184"/>
              </a:xfrm>
              <a:prstGeom prst="round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IEAE</a:t>
            </a:r>
            <a:r>
              <a:rPr lang="zh-CN" altLang="en-US" dirty="0" smtClean="0"/>
              <a:t>加密算法描述</a:t>
            </a:r>
            <a:endParaRPr lang="zh-CN" altLang="en-US" dirty="0"/>
          </a:p>
        </p:txBody>
      </p:sp>
      <p:sp>
        <p:nvSpPr>
          <p:cNvPr id="40" name="文本框 39"/>
          <p:cNvSpPr txBox="1"/>
          <p:nvPr/>
        </p:nvSpPr>
        <p:spPr>
          <a:xfrm>
            <a:off x="6915669" y="3219528"/>
            <a:ext cx="1758312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buClr>
                <a:schemeClr val="tx2"/>
              </a:buClr>
              <a:buSzPct val="70000"/>
            </a:pPr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转换函数</a:t>
            </a:r>
          </a:p>
        </p:txBody>
      </p:sp>
      <p:cxnSp>
        <p:nvCxnSpPr>
          <p:cNvPr id="4" name="直接箭头连接符 3"/>
          <p:cNvCxnSpPr/>
          <p:nvPr/>
        </p:nvCxnSpPr>
        <p:spPr bwMode="auto">
          <a:xfrm>
            <a:off x="7568310" y="3760524"/>
            <a:ext cx="0" cy="72763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>
            <a:outerShdw dist="35921" dir="2700000" algn="ctr" rotWithShape="0">
              <a:schemeClr val="bg2"/>
            </a:outerShdw>
          </a:effectLst>
          <a:extLst/>
        </p:spPr>
      </p:cxnSp>
      <p:cxnSp>
        <p:nvCxnSpPr>
          <p:cNvPr id="8" name="直接箭头连接符 7"/>
          <p:cNvCxnSpPr>
            <a:stCxn id="43" idx="2"/>
          </p:cNvCxnSpPr>
          <p:nvPr/>
        </p:nvCxnSpPr>
        <p:spPr bwMode="auto">
          <a:xfrm>
            <a:off x="7115324" y="3091485"/>
            <a:ext cx="0" cy="66933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>
            <a:outerShdw dist="35921" dir="2700000" algn="ctr" rotWithShape="0">
              <a:schemeClr val="bg2"/>
            </a:outerShdw>
          </a:effectLst>
          <a:extLst/>
        </p:spPr>
      </p:cxnSp>
      <p:cxnSp>
        <p:nvCxnSpPr>
          <p:cNvPr id="15" name="直接箭头连接符 14"/>
          <p:cNvCxnSpPr>
            <a:stCxn id="21" idx="3"/>
            <a:endCxn id="23" idx="1"/>
          </p:cNvCxnSpPr>
          <p:nvPr/>
        </p:nvCxnSpPr>
        <p:spPr bwMode="auto">
          <a:xfrm flipV="1">
            <a:off x="3059832" y="2742759"/>
            <a:ext cx="272796" cy="216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>
            <a:outerShdw dist="35921" dir="2700000" algn="ctr" rotWithShape="0">
              <a:schemeClr val="bg2"/>
            </a:outerShdw>
          </a:effectLst>
          <a:extLst/>
        </p:spPr>
      </p:cxnSp>
      <p:cxnSp>
        <p:nvCxnSpPr>
          <p:cNvPr id="48" name="直接箭头连接符 47"/>
          <p:cNvCxnSpPr>
            <a:stCxn id="23" idx="3"/>
            <a:endCxn id="43" idx="1"/>
          </p:cNvCxnSpPr>
          <p:nvPr/>
        </p:nvCxnSpPr>
        <p:spPr bwMode="auto">
          <a:xfrm>
            <a:off x="5556668" y="2742759"/>
            <a:ext cx="506553" cy="177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>
            <a:outerShdw dist="35921" dir="2700000" algn="ctr" rotWithShape="0">
              <a:schemeClr val="bg2"/>
            </a:outerShdw>
          </a:effectLst>
          <a:extLst/>
        </p:spPr>
      </p:cxnSp>
      <p:cxnSp>
        <p:nvCxnSpPr>
          <p:cNvPr id="54" name="直接箭头连接符 53"/>
          <p:cNvCxnSpPr>
            <a:stCxn id="50" idx="1"/>
            <a:endCxn id="51" idx="3"/>
          </p:cNvCxnSpPr>
          <p:nvPr/>
        </p:nvCxnSpPr>
        <p:spPr bwMode="auto">
          <a:xfrm flipH="1" flipV="1">
            <a:off x="2480274" y="4810244"/>
            <a:ext cx="2225273" cy="680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>
            <a:outerShdw dist="35921" dir="2700000" algn="ctr" rotWithShape="0">
              <a:schemeClr val="bg2"/>
            </a:outerShdw>
          </a:effectLst>
          <a:extLst/>
        </p:spPr>
      </p:cxnSp>
      <p:cxnSp>
        <p:nvCxnSpPr>
          <p:cNvPr id="56" name="直接箭头连接符 55"/>
          <p:cNvCxnSpPr>
            <a:stCxn id="49" idx="1"/>
            <a:endCxn id="50" idx="3"/>
          </p:cNvCxnSpPr>
          <p:nvPr/>
        </p:nvCxnSpPr>
        <p:spPr bwMode="auto">
          <a:xfrm flipH="1" flipV="1">
            <a:off x="6407788" y="4817047"/>
            <a:ext cx="536722" cy="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>
            <a:outerShdw dist="35921" dir="2700000" algn="ctr" rotWithShape="0">
              <a:schemeClr val="bg2"/>
            </a:outerShdw>
          </a:effectLst>
          <a:ex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矩形 87"/>
              <p:cNvSpPr/>
              <p:nvPr/>
            </p:nvSpPr>
            <p:spPr>
              <a:xfrm>
                <a:off x="7555987" y="3933056"/>
                <a:ext cx="981231" cy="49750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华文细黑" panose="020106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0000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华文细黑" panose="02010600040101010101" pitchFamily="2" charset="-122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0000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华文细黑" panose="0201060004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华文细黑" panose="0201060004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华文细黑" panose="020106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0000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华文细黑" panose="02010600040101010101" pitchFamily="2" charset="-122"/>
                              <a:cs typeface="Times New Roman" panose="020206030504050203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0000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华文细黑" panose="020106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8" name="矩形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987" y="3933056"/>
                <a:ext cx="981231" cy="497508"/>
              </a:xfrm>
              <a:prstGeom prst="rect">
                <a:avLst/>
              </a:prstGeom>
              <a:blipFill rotWithShape="0">
                <a:blip r:embed="rId5"/>
                <a:stretch>
                  <a:fillRect l="-1863" b="-134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/>
              <p:cNvSpPr/>
              <p:nvPr/>
            </p:nvSpPr>
            <p:spPr>
              <a:xfrm>
                <a:off x="5508104" y="3952363"/>
                <a:ext cx="84664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华文细黑" panose="02010600040101010101" pitchFamily="2" charset="-122"/>
                          <a:cs typeface="Times New Roman" panose="02020603050405020304" pitchFamily="18" charset="0"/>
                        </a:rPr>
                        <m:t>v</m:t>
                      </m:r>
                      <m:r>
                        <a:rPr lang="en-US" altLang="zh-CN" sz="2400"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华文细黑" panose="0201060004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华文细黑" panose="020106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solidFill>
                                <a:srgbClr val="0000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华文细黑" panose="0201060004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0000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华文细黑" panose="0201060004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24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0" name="矩形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3952363"/>
                <a:ext cx="846642" cy="461665"/>
              </a:xfrm>
              <a:prstGeom prst="rect">
                <a:avLst/>
              </a:prstGeom>
              <a:blipFill rotWithShape="0"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5" name="对象 1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9792901"/>
              </p:ext>
            </p:extLst>
          </p:nvPr>
        </p:nvGraphicFramePr>
        <p:xfrm>
          <a:off x="778033" y="5419442"/>
          <a:ext cx="4844955" cy="812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3" name="Equation" r:id="rId7" imgW="2895600" imgH="482600" progId="Equation.DSMT4">
                  <p:embed/>
                </p:oleObj>
              </mc:Choice>
              <mc:Fallback>
                <p:oleObj name="Equation" r:id="rId7" imgW="28956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033" y="5419442"/>
                        <a:ext cx="4844955" cy="812805"/>
                      </a:xfrm>
                      <a:prstGeom prst="rect">
                        <a:avLst/>
                      </a:prstGeom>
                      <a:solidFill>
                        <a:srgbClr val="FFFD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灯片编号占位符 10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14</a:t>
            </a:fld>
            <a:endParaRPr lang="en-US" altLang="zh-TW" dirty="0"/>
          </a:p>
        </p:txBody>
      </p:sp>
      <p:cxnSp>
        <p:nvCxnSpPr>
          <p:cNvPr id="7" name="直接连接符 6"/>
          <p:cNvCxnSpPr/>
          <p:nvPr/>
        </p:nvCxnSpPr>
        <p:spPr bwMode="auto">
          <a:xfrm>
            <a:off x="5453544" y="3760524"/>
            <a:ext cx="211550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/>
          </a:ln>
          <a:effectLst>
            <a:outerShdw dist="35921" dir="2700000" algn="ctr" rotWithShape="0">
              <a:schemeClr val="bg2"/>
            </a:outerShdw>
          </a:effectLst>
          <a:extLst/>
        </p:spPr>
      </p:cxnSp>
      <p:cxnSp>
        <p:nvCxnSpPr>
          <p:cNvPr id="16" name="直接箭头连接符 15"/>
          <p:cNvCxnSpPr/>
          <p:nvPr/>
        </p:nvCxnSpPr>
        <p:spPr bwMode="auto">
          <a:xfrm>
            <a:off x="5450354" y="3760524"/>
            <a:ext cx="3191" cy="72763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>
            <a:outerShdw dist="35921" dir="2700000" algn="ctr" rotWithShape="0">
              <a:schemeClr val="bg2"/>
            </a:outerShdw>
          </a:effectLst>
          <a:extLst/>
        </p:spPr>
      </p:cxnSp>
      <p:sp>
        <p:nvSpPr>
          <p:cNvPr id="43" name="圆角矩形 42"/>
          <p:cNvSpPr/>
          <p:nvPr/>
        </p:nvSpPr>
        <p:spPr bwMode="auto">
          <a:xfrm>
            <a:off x="6063221" y="2397588"/>
            <a:ext cx="2104206" cy="693897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伪随机序列</a:t>
            </a:r>
          </a:p>
        </p:txBody>
      </p:sp>
      <p:sp>
        <p:nvSpPr>
          <p:cNvPr id="49" name="圆角矩形 48"/>
          <p:cNvSpPr/>
          <p:nvPr/>
        </p:nvSpPr>
        <p:spPr bwMode="auto">
          <a:xfrm>
            <a:off x="6944510" y="4470099"/>
            <a:ext cx="1443914" cy="693897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原图像</a:t>
            </a:r>
          </a:p>
        </p:txBody>
      </p:sp>
      <p:sp>
        <p:nvSpPr>
          <p:cNvPr id="50" name="圆角矩形 49"/>
          <p:cNvSpPr/>
          <p:nvPr/>
        </p:nvSpPr>
        <p:spPr bwMode="auto">
          <a:xfrm>
            <a:off x="4705547" y="4470098"/>
            <a:ext cx="1702241" cy="693897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分块图像</a:t>
            </a:r>
          </a:p>
        </p:txBody>
      </p:sp>
      <p:sp>
        <p:nvSpPr>
          <p:cNvPr id="51" name="圆角矩形 50"/>
          <p:cNvSpPr/>
          <p:nvPr/>
        </p:nvSpPr>
        <p:spPr bwMode="auto">
          <a:xfrm>
            <a:off x="778033" y="4463295"/>
            <a:ext cx="1702241" cy="693897"/>
          </a:xfrm>
          <a:prstGeom prst="roundRect">
            <a:avLst/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密文图像</a:t>
            </a:r>
          </a:p>
        </p:txBody>
      </p:sp>
    </p:spTree>
    <p:extLst>
      <p:ext uri="{BB962C8B-B14F-4D97-AF65-F5344CB8AC3E}">
        <p14:creationId xmlns:p14="http://schemas.microsoft.com/office/powerpoint/2010/main" val="260545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针对</a:t>
            </a:r>
            <a:r>
              <a:rPr lang="en-US" altLang="zh-CN" dirty="0" smtClean="0"/>
              <a:t>IEAE</a:t>
            </a:r>
            <a:r>
              <a:rPr lang="zh-CN" altLang="en-US" dirty="0" smtClean="0"/>
              <a:t>的已知明文攻击</a:t>
            </a:r>
            <a:endParaRPr lang="zh-CN" altLang="en-US" sz="2800" dirty="0"/>
          </a:p>
        </p:txBody>
      </p:sp>
      <p:grpSp>
        <p:nvGrpSpPr>
          <p:cNvPr id="5" name="组合 4"/>
          <p:cNvGrpSpPr/>
          <p:nvPr/>
        </p:nvGrpSpPr>
        <p:grpSpPr>
          <a:xfrm>
            <a:off x="683568" y="1268760"/>
            <a:ext cx="7776864" cy="1697598"/>
            <a:chOff x="683568" y="1412776"/>
            <a:chExt cx="7776864" cy="1697598"/>
          </a:xfrm>
        </p:grpSpPr>
        <p:sp>
          <p:nvSpPr>
            <p:cNvPr id="3" name="矩形 2"/>
            <p:cNvSpPr/>
            <p:nvPr/>
          </p:nvSpPr>
          <p:spPr bwMode="auto">
            <a:xfrm>
              <a:off x="683568" y="1412776"/>
              <a:ext cx="7776864" cy="1697598"/>
            </a:xfrm>
            <a:prstGeom prst="rect">
              <a:avLst/>
            </a:prstGeom>
            <a:solidFill>
              <a:srgbClr val="FFFD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PMingLiU" pitchFamily="18" charset="-12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83568" y="1499298"/>
              <a:ext cx="71417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rPr>
                <a:t>当加密轮数</a:t>
              </a:r>
              <a:r>
                <a:rPr lang="en-US" altLang="zh-CN" sz="24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rPr>
                <a:t>R=1</a:t>
              </a:r>
              <a:r>
                <a:rPr lang="zh-CN" altLang="en-US" sz="2400" b="1" dirty="0"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rPr>
                <a:t>时</a:t>
              </a:r>
              <a:r>
                <a:rPr lang="zh-CN" altLang="en-US" sz="2400" b="1" dirty="0" smtClean="0"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rPr>
                <a:t>：</a:t>
              </a:r>
              <a:endParaRPr lang="zh-CN" altLang="en-US" sz="2400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561634"/>
                </p:ext>
              </p:extLst>
            </p:nvPr>
          </p:nvGraphicFramePr>
          <p:xfrm>
            <a:off x="3066452" y="2140838"/>
            <a:ext cx="4225925" cy="8620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03" name="Equation" r:id="rId4" imgW="2247840" imgH="457200" progId="Equation.DSMT4">
                    <p:embed/>
                  </p:oleObj>
                </mc:Choice>
                <mc:Fallback>
                  <p:oleObj name="Equation" r:id="rId4" imgW="224784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6452" y="2140838"/>
                          <a:ext cx="4225925" cy="86201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683568" y="3031134"/>
            <a:ext cx="7776864" cy="1697598"/>
            <a:chOff x="683568" y="3031134"/>
            <a:chExt cx="7776864" cy="1697598"/>
          </a:xfrm>
        </p:grpSpPr>
        <p:sp>
          <p:nvSpPr>
            <p:cNvPr id="12" name="矩形 11"/>
            <p:cNvSpPr/>
            <p:nvPr/>
          </p:nvSpPr>
          <p:spPr bwMode="auto">
            <a:xfrm>
              <a:off x="683568" y="3031134"/>
              <a:ext cx="7776864" cy="1697598"/>
            </a:xfrm>
            <a:prstGeom prst="rect">
              <a:avLst/>
            </a:prstGeom>
            <a:solidFill>
              <a:srgbClr val="FFFD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PMingLiU" pitchFamily="18" charset="-12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83568" y="3110374"/>
              <a:ext cx="63075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rPr>
                <a:t>当加密轮数</a:t>
              </a:r>
              <a:r>
                <a:rPr lang="en-US" altLang="zh-CN" sz="24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rPr>
                <a:t>R=2</a:t>
              </a:r>
              <a:r>
                <a:rPr lang="zh-CN" altLang="en-US" sz="2400" b="1" dirty="0" smtClean="0"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rPr>
                <a:t>时：</a:t>
              </a:r>
              <a:endParaRPr lang="zh-CN" altLang="en-US" sz="2400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63887435"/>
                </p:ext>
              </p:extLst>
            </p:nvPr>
          </p:nvGraphicFramePr>
          <p:xfrm>
            <a:off x="1835484" y="3751914"/>
            <a:ext cx="6350369" cy="9091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04" name="Equation" r:id="rId6" imgW="3555720" imgH="507960" progId="Equation.DSMT4">
                    <p:embed/>
                  </p:oleObj>
                </mc:Choice>
                <mc:Fallback>
                  <p:oleObj name="Equation" r:id="rId6" imgW="3555720" imgH="507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5484" y="3751914"/>
                          <a:ext cx="6350369" cy="9091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683568" y="4840926"/>
            <a:ext cx="7776864" cy="1885312"/>
            <a:chOff x="683568" y="4840926"/>
            <a:chExt cx="7776864" cy="1885312"/>
          </a:xfrm>
        </p:grpSpPr>
        <p:sp>
          <p:nvSpPr>
            <p:cNvPr id="16" name="矩形 15"/>
            <p:cNvSpPr/>
            <p:nvPr/>
          </p:nvSpPr>
          <p:spPr bwMode="auto">
            <a:xfrm>
              <a:off x="683568" y="4840926"/>
              <a:ext cx="7776864" cy="1885311"/>
            </a:xfrm>
            <a:prstGeom prst="rect">
              <a:avLst/>
            </a:prstGeom>
            <a:solidFill>
              <a:srgbClr val="FFFDCC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PMingLiU" pitchFamily="18" charset="-12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83568" y="4840927"/>
              <a:ext cx="630758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rPr>
                <a:t>任意的加密</a:t>
              </a:r>
              <a:r>
                <a:rPr lang="zh-CN" altLang="en-US" sz="2400" b="1" dirty="0" smtClean="0"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rPr>
                <a:t>轮数</a:t>
              </a:r>
              <a:r>
                <a:rPr lang="en-US" altLang="zh-CN" sz="24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rPr>
                <a:t>R</a:t>
              </a:r>
              <a:endPara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1716099"/>
                </p:ext>
              </p:extLst>
            </p:nvPr>
          </p:nvGraphicFramePr>
          <p:xfrm>
            <a:off x="2571750" y="5302250"/>
            <a:ext cx="4398963" cy="1423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05" name="Equation" r:id="rId8" imgW="2590560" imgH="838080" progId="Equation.DSMT4">
                    <p:embed/>
                  </p:oleObj>
                </mc:Choice>
                <mc:Fallback>
                  <p:oleObj name="Equation" r:id="rId8" imgW="2590560" imgH="838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1750" y="5302250"/>
                          <a:ext cx="4398963" cy="14239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15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215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针对</a:t>
            </a:r>
            <a:r>
              <a:rPr lang="en-US" altLang="zh-CN" dirty="0"/>
              <a:t>IEAE</a:t>
            </a:r>
            <a:r>
              <a:rPr lang="zh-CN" altLang="en-US" dirty="0"/>
              <a:t>的已知明文攻击</a:t>
            </a:r>
            <a:endParaRPr lang="zh-CN" altLang="en-US" sz="28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895" y="2708920"/>
            <a:ext cx="2472561" cy="246951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88" y="2708920"/>
            <a:ext cx="2472561" cy="246951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747" y="2708920"/>
            <a:ext cx="2503049" cy="250304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4657" y="5179379"/>
            <a:ext cx="2091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2"/>
              </a:buClr>
              <a:buSzPct val="70000"/>
            </a:pPr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加密图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534318" y="5184095"/>
                <a:ext cx="2091421" cy="515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>
                              <a:solidFill>
                                <a:srgbClr val="0000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华文细黑" panose="020106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>
                              <a:solidFill>
                                <a:srgbClr val="0000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华文细黑" panose="02010600040101010101" pitchFamily="2" charset="-122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2400">
                              <a:solidFill>
                                <a:srgbClr val="0000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华文细黑" panose="02010600040101010101" pitchFamily="2" charset="-122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2400">
                              <a:solidFill>
                                <a:srgbClr val="0000FF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华文细黑" panose="02010600040101010101" pitchFamily="2" charset="-122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ea typeface="华文细黑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318" y="5184095"/>
                <a:ext cx="2091421" cy="515334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6394464" y="5211969"/>
            <a:ext cx="2091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2"/>
              </a:buClr>
              <a:buSzPct val="70000"/>
            </a:pPr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破解图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16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0102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IEAE</a:t>
            </a:r>
            <a:r>
              <a:rPr lang="zh-CN" altLang="en-US" dirty="0" smtClean="0"/>
              <a:t>所用伪随机序列潜在的短周期</a:t>
            </a:r>
            <a:endParaRPr lang="zh-CN" altLang="en-US" sz="2800" dirty="0"/>
          </a:p>
        </p:txBody>
      </p:sp>
      <p:pic>
        <p:nvPicPr>
          <p:cNvPr id="22" name="图片 21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5843" y="2077201"/>
            <a:ext cx="1807379" cy="190849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531767" y="2291891"/>
            <a:ext cx="4839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>
              <a:buClr>
                <a:schemeClr val="tx2"/>
              </a:buClr>
              <a:buSzPct val="70000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定点精度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304886"/>
              </p:ext>
            </p:extLst>
          </p:nvPr>
        </p:nvGraphicFramePr>
        <p:xfrm>
          <a:off x="3496625" y="1597665"/>
          <a:ext cx="2398821" cy="4062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72" name="Equation" r:id="rId5" imgW="1180588" imgH="203112" progId="Equation.DSMT4">
                  <p:embed/>
                </p:oleObj>
              </mc:Choice>
              <mc:Fallback>
                <p:oleObj name="Equation" r:id="rId5" imgW="1180588" imgH="203112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6625" y="1597665"/>
                        <a:ext cx="2398821" cy="4062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文本框 24"/>
          <p:cNvSpPr txBox="1"/>
          <p:nvPr/>
        </p:nvSpPr>
        <p:spPr>
          <a:xfrm>
            <a:off x="1596536" y="1557109"/>
            <a:ext cx="2256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Logistic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映射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pic>
        <p:nvPicPr>
          <p:cNvPr id="28" name="图片 27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490" y="2035395"/>
            <a:ext cx="1820422" cy="1908491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5079963" y="2228353"/>
            <a:ext cx="4839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240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>
              <a:buClr>
                <a:schemeClr val="tx2"/>
              </a:buClr>
              <a:buSzPct val="70000"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浮点精度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448265" y="4415998"/>
            <a:ext cx="2591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广义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Arnold</a:t>
            </a:r>
            <a:r>
              <a:rPr lang="zh-CN" altLang="en-US" sz="2400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映射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7146120"/>
              </p:ext>
            </p:extLst>
          </p:nvPr>
        </p:nvGraphicFramePr>
        <p:xfrm>
          <a:off x="4079158" y="4270375"/>
          <a:ext cx="3502025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673" name="Equation" r:id="rId8" imgW="2260440" imgH="482400" progId="Equation.DSMT4">
                  <p:embed/>
                </p:oleObj>
              </mc:Choice>
              <mc:Fallback>
                <p:oleObj name="Equation" r:id="rId8" imgW="22604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158" y="4270375"/>
                        <a:ext cx="3502025" cy="752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" name="图片 33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679" y="5095586"/>
            <a:ext cx="6724697" cy="1661621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17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518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IEAE</a:t>
            </a:r>
            <a:r>
              <a:rPr lang="zh-CN" altLang="en-US" dirty="0" smtClean="0"/>
              <a:t>所用伪随机序列潜在的短周期</a:t>
            </a:r>
            <a:endParaRPr lang="zh-CN" altLang="en-US" sz="2800" dirty="0"/>
          </a:p>
        </p:txBody>
      </p:sp>
      <p:pic>
        <p:nvPicPr>
          <p:cNvPr id="22" name="图片 2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484784"/>
            <a:ext cx="5616624" cy="5199880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18</a:t>
            </a:fld>
            <a:endParaRPr lang="en-US" altLang="zh-TW" dirty="0"/>
          </a:p>
        </p:txBody>
      </p:sp>
      <p:sp>
        <p:nvSpPr>
          <p:cNvPr id="3" name="椭圆 2"/>
          <p:cNvSpPr/>
          <p:nvPr/>
        </p:nvSpPr>
        <p:spPr bwMode="auto">
          <a:xfrm>
            <a:off x="2807515" y="1931118"/>
            <a:ext cx="288032" cy="28803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cxnSp>
        <p:nvCxnSpPr>
          <p:cNvPr id="9" name="直接箭头连接符 8"/>
          <p:cNvCxnSpPr/>
          <p:nvPr/>
        </p:nvCxnSpPr>
        <p:spPr bwMode="auto">
          <a:xfrm>
            <a:off x="3016396" y="2216769"/>
            <a:ext cx="144016" cy="27756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椭圆 16"/>
          <p:cNvSpPr/>
          <p:nvPr/>
        </p:nvSpPr>
        <p:spPr bwMode="auto">
          <a:xfrm>
            <a:off x="3081261" y="2494334"/>
            <a:ext cx="288032" cy="28803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cxnSp>
        <p:nvCxnSpPr>
          <p:cNvPr id="18" name="直接箭头连接符 17"/>
          <p:cNvCxnSpPr/>
          <p:nvPr/>
        </p:nvCxnSpPr>
        <p:spPr bwMode="auto">
          <a:xfrm>
            <a:off x="3395484" y="2640731"/>
            <a:ext cx="338611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椭圆 20"/>
          <p:cNvSpPr/>
          <p:nvPr/>
        </p:nvSpPr>
        <p:spPr bwMode="auto">
          <a:xfrm>
            <a:off x="3760286" y="2500039"/>
            <a:ext cx="288032" cy="28803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23" name="椭圆 22"/>
          <p:cNvSpPr/>
          <p:nvPr/>
        </p:nvSpPr>
        <p:spPr bwMode="auto">
          <a:xfrm>
            <a:off x="3433961" y="3026679"/>
            <a:ext cx="288032" cy="28803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cxnSp>
        <p:nvCxnSpPr>
          <p:cNvPr id="24" name="直接箭头连接符 23"/>
          <p:cNvCxnSpPr/>
          <p:nvPr/>
        </p:nvCxnSpPr>
        <p:spPr bwMode="auto">
          <a:xfrm flipH="1">
            <a:off x="3660043" y="2763685"/>
            <a:ext cx="169307" cy="28803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直接箭头连接符 26"/>
          <p:cNvCxnSpPr/>
          <p:nvPr/>
        </p:nvCxnSpPr>
        <p:spPr bwMode="auto">
          <a:xfrm flipH="1" flipV="1">
            <a:off x="3301477" y="2750362"/>
            <a:ext cx="194594" cy="302426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文本框 36"/>
          <p:cNvSpPr txBox="1"/>
          <p:nvPr/>
        </p:nvSpPr>
        <p:spPr>
          <a:xfrm>
            <a:off x="6629765" y="1723250"/>
            <a:ext cx="20978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61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椭圆 37"/>
          <p:cNvSpPr/>
          <p:nvPr/>
        </p:nvSpPr>
        <p:spPr bwMode="auto">
          <a:xfrm>
            <a:off x="3541318" y="1524342"/>
            <a:ext cx="288032" cy="28803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39" name="椭圆 38"/>
          <p:cNvSpPr/>
          <p:nvPr/>
        </p:nvSpPr>
        <p:spPr bwMode="auto">
          <a:xfrm>
            <a:off x="4186560" y="1636736"/>
            <a:ext cx="288032" cy="28803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40" name="椭圆 39"/>
          <p:cNvSpPr/>
          <p:nvPr/>
        </p:nvSpPr>
        <p:spPr bwMode="auto">
          <a:xfrm>
            <a:off x="4177035" y="2245458"/>
            <a:ext cx="288032" cy="28803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cxnSp>
        <p:nvCxnSpPr>
          <p:cNvPr id="41" name="直接箭头连接符 40"/>
          <p:cNvCxnSpPr/>
          <p:nvPr/>
        </p:nvCxnSpPr>
        <p:spPr bwMode="auto">
          <a:xfrm>
            <a:off x="3833055" y="1686832"/>
            <a:ext cx="338647" cy="72836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" name="直接箭头连接符 42"/>
          <p:cNvCxnSpPr>
            <a:endCxn id="40" idx="0"/>
          </p:cNvCxnSpPr>
          <p:nvPr/>
        </p:nvCxnSpPr>
        <p:spPr bwMode="auto">
          <a:xfrm flipH="1">
            <a:off x="4321051" y="1941215"/>
            <a:ext cx="4043" cy="30424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任意多边形 55"/>
          <p:cNvSpPr/>
          <p:nvPr/>
        </p:nvSpPr>
        <p:spPr bwMode="auto">
          <a:xfrm>
            <a:off x="4001779" y="2062143"/>
            <a:ext cx="319024" cy="325457"/>
          </a:xfrm>
          <a:custGeom>
            <a:avLst/>
            <a:gdLst>
              <a:gd name="connsiteX0" fmla="*/ 166624 w 319024"/>
              <a:gd name="connsiteY0" fmla="*/ 325457 h 325457"/>
              <a:gd name="connsiteX1" fmla="*/ 4699 w 319024"/>
              <a:gd name="connsiteY1" fmla="*/ 268307 h 325457"/>
              <a:gd name="connsiteX2" fmla="*/ 58674 w 319024"/>
              <a:gd name="connsiteY2" fmla="*/ 112732 h 325457"/>
              <a:gd name="connsiteX3" fmla="*/ 214249 w 319024"/>
              <a:gd name="connsiteY3" fmla="*/ 11132 h 325457"/>
              <a:gd name="connsiteX4" fmla="*/ 258699 w 319024"/>
              <a:gd name="connsiteY4" fmla="*/ 4782 h 325457"/>
              <a:gd name="connsiteX5" fmla="*/ 299974 w 319024"/>
              <a:gd name="connsiteY5" fmla="*/ 30182 h 325457"/>
              <a:gd name="connsiteX6" fmla="*/ 319024 w 319024"/>
              <a:gd name="connsiteY6" fmla="*/ 173057 h 32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24" h="325457">
                <a:moveTo>
                  <a:pt x="166624" y="325457"/>
                </a:moveTo>
                <a:cubicBezTo>
                  <a:pt x="94657" y="314609"/>
                  <a:pt x="22691" y="303761"/>
                  <a:pt x="4699" y="268307"/>
                </a:cubicBezTo>
                <a:cubicBezTo>
                  <a:pt x="-13293" y="232853"/>
                  <a:pt x="23749" y="155594"/>
                  <a:pt x="58674" y="112732"/>
                </a:cubicBezTo>
                <a:cubicBezTo>
                  <a:pt x="93599" y="69870"/>
                  <a:pt x="180912" y="29124"/>
                  <a:pt x="214249" y="11132"/>
                </a:cubicBezTo>
                <a:cubicBezTo>
                  <a:pt x="247586" y="-6860"/>
                  <a:pt x="244412" y="1607"/>
                  <a:pt x="258699" y="4782"/>
                </a:cubicBezTo>
                <a:cubicBezTo>
                  <a:pt x="272986" y="7957"/>
                  <a:pt x="289920" y="2136"/>
                  <a:pt x="299974" y="30182"/>
                </a:cubicBezTo>
                <a:cubicBezTo>
                  <a:pt x="310028" y="58228"/>
                  <a:pt x="314526" y="115642"/>
                  <a:pt x="319024" y="173057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629764" y="3001730"/>
            <a:ext cx="2097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47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箭头连接符 57"/>
          <p:cNvCxnSpPr/>
          <p:nvPr/>
        </p:nvCxnSpPr>
        <p:spPr bwMode="auto">
          <a:xfrm>
            <a:off x="2157212" y="6270877"/>
            <a:ext cx="326556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椭圆 58"/>
          <p:cNvSpPr/>
          <p:nvPr/>
        </p:nvSpPr>
        <p:spPr bwMode="auto">
          <a:xfrm>
            <a:off x="1869180" y="6131624"/>
            <a:ext cx="288032" cy="28803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60" name="椭圆 59"/>
          <p:cNvSpPr/>
          <p:nvPr/>
        </p:nvSpPr>
        <p:spPr bwMode="auto">
          <a:xfrm>
            <a:off x="2464494" y="6131617"/>
            <a:ext cx="288032" cy="28803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64" name="任意多边形 63"/>
          <p:cNvSpPr/>
          <p:nvPr/>
        </p:nvSpPr>
        <p:spPr bwMode="auto">
          <a:xfrm>
            <a:off x="2289597" y="5945420"/>
            <a:ext cx="319024" cy="325457"/>
          </a:xfrm>
          <a:custGeom>
            <a:avLst/>
            <a:gdLst>
              <a:gd name="connsiteX0" fmla="*/ 166624 w 319024"/>
              <a:gd name="connsiteY0" fmla="*/ 325457 h 325457"/>
              <a:gd name="connsiteX1" fmla="*/ 4699 w 319024"/>
              <a:gd name="connsiteY1" fmla="*/ 268307 h 325457"/>
              <a:gd name="connsiteX2" fmla="*/ 58674 w 319024"/>
              <a:gd name="connsiteY2" fmla="*/ 112732 h 325457"/>
              <a:gd name="connsiteX3" fmla="*/ 214249 w 319024"/>
              <a:gd name="connsiteY3" fmla="*/ 11132 h 325457"/>
              <a:gd name="connsiteX4" fmla="*/ 258699 w 319024"/>
              <a:gd name="connsiteY4" fmla="*/ 4782 h 325457"/>
              <a:gd name="connsiteX5" fmla="*/ 299974 w 319024"/>
              <a:gd name="connsiteY5" fmla="*/ 30182 h 325457"/>
              <a:gd name="connsiteX6" fmla="*/ 319024 w 319024"/>
              <a:gd name="connsiteY6" fmla="*/ 173057 h 325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24" h="325457">
                <a:moveTo>
                  <a:pt x="166624" y="325457"/>
                </a:moveTo>
                <a:cubicBezTo>
                  <a:pt x="94657" y="314609"/>
                  <a:pt x="22691" y="303761"/>
                  <a:pt x="4699" y="268307"/>
                </a:cubicBezTo>
                <a:cubicBezTo>
                  <a:pt x="-13293" y="232853"/>
                  <a:pt x="23749" y="155594"/>
                  <a:pt x="58674" y="112732"/>
                </a:cubicBezTo>
                <a:cubicBezTo>
                  <a:pt x="93599" y="69870"/>
                  <a:pt x="180912" y="29124"/>
                  <a:pt x="214249" y="11132"/>
                </a:cubicBezTo>
                <a:cubicBezTo>
                  <a:pt x="247586" y="-6860"/>
                  <a:pt x="244412" y="1607"/>
                  <a:pt x="258699" y="4782"/>
                </a:cubicBezTo>
                <a:cubicBezTo>
                  <a:pt x="272986" y="7957"/>
                  <a:pt x="289920" y="2136"/>
                  <a:pt x="299974" y="30182"/>
                </a:cubicBezTo>
                <a:cubicBezTo>
                  <a:pt x="310028" y="58228"/>
                  <a:pt x="314526" y="115642"/>
                  <a:pt x="319024" y="173057"/>
                </a:cubicBezTo>
              </a:path>
            </a:pathLst>
          </a:cu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PMingLiU" pitchFamily="18" charset="-120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629763" y="5773318"/>
            <a:ext cx="20978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64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  <p:bldP spid="21" grpId="0" animBg="1"/>
      <p:bldP spid="23" grpId="0" animBg="1"/>
      <p:bldP spid="37" grpId="0"/>
      <p:bldP spid="38" grpId="0" animBg="1"/>
      <p:bldP spid="39" grpId="0" animBg="1"/>
      <p:bldP spid="40" grpId="0" animBg="1"/>
      <p:bldP spid="56" grpId="0" animBg="1"/>
      <p:bldP spid="57" grpId="0"/>
      <p:bldP spid="59" grpId="0" animBg="1"/>
      <p:bldP spid="60" grpId="0" animBg="1"/>
      <p:bldP spid="64" grpId="0" animBg="1"/>
      <p:bldP spid="6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总结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4294967295"/>
          </p:nvPr>
        </p:nvSpPr>
        <p:spPr>
          <a:xfrm>
            <a:off x="827584" y="1772816"/>
            <a:ext cx="7427913" cy="3866802"/>
          </a:xfrm>
          <a:solidFill>
            <a:srgbClr val="FFFDCC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2400" b="1" dirty="0" smtClean="0"/>
              <a:t>常见</a:t>
            </a:r>
            <a:r>
              <a:rPr lang="zh-CN" altLang="en-US" sz="2400" b="1" dirty="0"/>
              <a:t>的图像和视频</a:t>
            </a:r>
            <a:r>
              <a:rPr lang="zh-CN" altLang="en-US" sz="240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隐私保护算法</a:t>
            </a:r>
            <a:r>
              <a:rPr lang="zh-CN" altLang="en-US" sz="2400" b="1" dirty="0"/>
              <a:t>的加密过程的安全性仍</a:t>
            </a:r>
            <a:r>
              <a:rPr lang="zh-CN" altLang="en-US" sz="240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存在</a:t>
            </a:r>
            <a:r>
              <a:rPr lang="zh-CN" altLang="en-US" sz="2400" b="1" dirty="0"/>
              <a:t>诸多</a:t>
            </a:r>
            <a:r>
              <a:rPr lang="zh-CN" altLang="en-US" sz="240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缺陷</a:t>
            </a:r>
            <a:r>
              <a:rPr lang="zh-CN" altLang="en-US" sz="2400" b="1" dirty="0"/>
              <a:t>。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2400" b="1" dirty="0" smtClean="0"/>
              <a:t>避免</a:t>
            </a:r>
            <a:r>
              <a:rPr lang="zh-CN" altLang="en-US" sz="2400" b="1" dirty="0"/>
              <a:t>在</a:t>
            </a:r>
            <a:r>
              <a:rPr lang="zh-CN" altLang="en-US" sz="240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变换系数</a:t>
            </a:r>
            <a:r>
              <a:rPr lang="zh-CN" altLang="en-US" sz="2400" b="1" dirty="0"/>
              <a:t>上暴露统计学相关的</a:t>
            </a:r>
            <a:r>
              <a:rPr lang="zh-CN" altLang="en-US" sz="240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安全缺陷</a:t>
            </a:r>
            <a:r>
              <a:rPr lang="zh-CN" altLang="en-US" sz="2400" b="1" dirty="0" smtClean="0"/>
              <a:t>。</a:t>
            </a:r>
            <a:endParaRPr lang="zh-CN" altLang="en-US" sz="2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2400" b="1" dirty="0" smtClean="0"/>
              <a:t>基于</a:t>
            </a:r>
            <a:r>
              <a:rPr lang="zh-CN" altLang="en-US" sz="2400" b="1" dirty="0"/>
              <a:t>唯位置置乱的图像加密算法的</a:t>
            </a:r>
            <a:r>
              <a:rPr lang="zh-CN" altLang="en-US" sz="240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安全性要素</a:t>
            </a:r>
            <a:r>
              <a:rPr lang="zh-CN" altLang="en-US" sz="2400" b="1" dirty="0"/>
              <a:t>包括</a:t>
            </a:r>
            <a:r>
              <a:rPr lang="zh-CN" altLang="en-US" sz="240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置换元素的数量</a:t>
            </a:r>
            <a:r>
              <a:rPr lang="zh-CN" altLang="en-US" sz="2400" b="1" dirty="0"/>
              <a:t>和</a:t>
            </a:r>
            <a:r>
              <a:rPr lang="zh-CN" altLang="en-US" sz="240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置换域的大小</a:t>
            </a:r>
            <a:r>
              <a:rPr lang="zh-CN" altLang="en-US" sz="2400" b="1" dirty="0"/>
              <a:t>，而与置换元素本身</a:t>
            </a:r>
            <a:r>
              <a:rPr lang="zh-CN" altLang="en-US" sz="2400" b="1" dirty="0" smtClean="0"/>
              <a:t>无关。</a:t>
            </a:r>
            <a:endParaRPr lang="zh-CN" altLang="en-US" sz="2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2400" b="1" dirty="0" smtClean="0"/>
              <a:t>应当</a:t>
            </a:r>
            <a:r>
              <a:rPr lang="zh-CN" altLang="en-US" sz="2400" b="1" dirty="0"/>
              <a:t>小心地设计加密算法，防止</a:t>
            </a:r>
            <a:r>
              <a:rPr lang="zh-CN" altLang="en-US" sz="240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与明文相关的信息</a:t>
            </a:r>
            <a:r>
              <a:rPr lang="zh-CN" altLang="en-US" sz="2400" b="1" dirty="0"/>
              <a:t>出现或</a:t>
            </a:r>
            <a:r>
              <a:rPr lang="zh-CN" altLang="en-US" sz="2400" kern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隐含在密文</a:t>
            </a:r>
            <a:r>
              <a:rPr lang="zh-CN" altLang="en-US" sz="2400" b="1" dirty="0" smtClean="0"/>
              <a:t>中。</a:t>
            </a:r>
            <a:endParaRPr lang="zh-CN" altLang="en-US" sz="24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19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561014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展望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1632095"/>
            <a:ext cx="4257404" cy="420680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04" y="4081424"/>
            <a:ext cx="4742669" cy="251592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6012160" y="1710501"/>
            <a:ext cx="2962655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隐私保护相关算法？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Pct val="70000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机器学习？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神经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网络</a:t>
            </a: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？</a:t>
            </a:r>
            <a:endParaRPr lang="en-US" altLang="zh-CN" sz="2400" b="1" dirty="0" smtClean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超</a:t>
            </a:r>
            <a:r>
              <a:rPr lang="zh-CN" altLang="en-US" sz="24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分辨率</a:t>
            </a:r>
            <a:r>
              <a:rPr lang="zh-CN" altLang="en-US" sz="2400" b="1" dirty="0" smtClean="0">
                <a:solidFill>
                  <a:srgbClr val="0000FF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？</a:t>
            </a:r>
            <a:endParaRPr lang="zh-CN" altLang="en-US" sz="2400" b="1" dirty="0">
              <a:solidFill>
                <a:srgbClr val="0000FF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20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72449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硕士</a:t>
            </a:r>
            <a:r>
              <a:rPr lang="zh-CN" altLang="en-US" dirty="0" smtClean="0"/>
              <a:t>期间完成的论文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888503" y="1719263"/>
            <a:ext cx="7427913" cy="4411662"/>
          </a:xfrm>
        </p:spPr>
        <p:txBody>
          <a:bodyPr/>
          <a:lstStyle/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Chengqing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Li, </a:t>
            </a:r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Dongdong Lin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Jinhu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“Cryptanalyzing an image-scrambling encryption algorithm of pixel bits,”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</a:t>
            </a:r>
            <a:r>
              <a:rPr lang="en-US" altLang="zh-CN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MultiMedia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3, pp. 64–71, 2017.</a:t>
            </a:r>
            <a:endParaRPr lang="zh-CN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spcBef>
                <a:spcPts val="600"/>
              </a:spcBef>
              <a:spcAft>
                <a:spcPts val="600"/>
              </a:spcAft>
            </a:pP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Chengqing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Li, </a:t>
            </a:r>
            <a:r>
              <a:rPr lang="en-US" altLang="zh-CN" sz="2800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Dongdong Lin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Jinhu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Feng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“Cryptanalyzing an image encryption algorithm based on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autoblocking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electrocardiography,” </a:t>
            </a:r>
            <a:r>
              <a:rPr lang="en-US" altLang="zh-CN" sz="2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submit to IEEE Multimedia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2017</a:t>
            </a:r>
            <a:r>
              <a:rPr lang="en-US" altLang="zh-C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21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669846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4294967295"/>
          </p:nvPr>
        </p:nvSpPr>
        <p:spPr>
          <a:xfrm>
            <a:off x="1082823" y="2276872"/>
            <a:ext cx="7427913" cy="3149600"/>
          </a:xfrm>
        </p:spPr>
        <p:txBody>
          <a:bodyPr/>
          <a:lstStyle/>
          <a:p>
            <a:pPr marL="0" lv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感谢各位老师百忙中抽空指导本次报告！感谢各位同学的聆听！</a:t>
            </a:r>
          </a:p>
          <a:p>
            <a:pPr marL="0" lv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祝各位老师工作顺利！身体健康！</a:t>
            </a:r>
          </a:p>
          <a:p>
            <a:pPr marL="0" lvl="0" indent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sz="3600" b="1" dirty="0">
                <a:solidFill>
                  <a:schemeClr val="tx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祝各位同学心想事成！天天开心！</a:t>
            </a:r>
          </a:p>
          <a:p>
            <a:pPr lvl="0">
              <a:spcBef>
                <a:spcPts val="600"/>
              </a:spcBef>
              <a:spcAft>
                <a:spcPts val="600"/>
              </a:spcAft>
            </a:pPr>
            <a:endParaRPr lang="zh-CN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11814" y="6475844"/>
            <a:ext cx="43524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个人主页：</a:t>
            </a:r>
            <a:r>
              <a:rPr lang="en-US" altLang="zh-CN" dirty="0">
                <a:latin typeface="Times New Roman" panose="020206030504050203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https://mrdongdonglin.github.io/</a:t>
            </a:r>
            <a:endParaRPr lang="zh-CN" altLang="en-US" dirty="0">
              <a:latin typeface="Times New Roman" panose="020206030504050203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7586" name="Picture 2" descr="https://timgsa.baidu.com/timg?image&amp;quality=80&amp;size=b9999_10000&amp;sec=1527082464185&amp;di=abacf252ef9e2aa4685fc74b07df8314&amp;imgtype=0&amp;src=http%3A%2F%2Fwww.5dtour.com.cn%3A8080%2Fjsprun_sso%2Fattachments%2Fmonth_1410%2F2014101012f6bb7ded2923f390d75a00706251b4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368" y="53380"/>
            <a:ext cx="3006824" cy="150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017760E-D7B9-46B0-AC6C-D3F28CFCC81D}" type="slidenum">
              <a:rPr lang="en-US" altLang="zh-TW" smtClean="0"/>
              <a:pPr>
                <a:defRPr/>
              </a:pPr>
              <a:t>22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93233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7"/>
</p:tagLst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PMingLiU"/>
        <a:cs typeface=""/>
      </a:majorFont>
      <a:minorFont>
        <a:latin typeface="Arial"/>
        <a:ea typeface="PMingLiU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PMingLiU" pitchFamily="18" charset="-12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4926</TotalTime>
  <Words>1021</Words>
  <Application>Microsoft Office PowerPoint</Application>
  <PresentationFormat>全屏显示(4:3)</PresentationFormat>
  <Paragraphs>178</Paragraphs>
  <Slides>22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PMingLiU</vt:lpstr>
      <vt:lpstr>等线</vt:lpstr>
      <vt:lpstr>黑体</vt:lpstr>
      <vt:lpstr>华文行楷</vt:lpstr>
      <vt:lpstr>华文细黑</vt:lpstr>
      <vt:lpstr>隶书</vt:lpstr>
      <vt:lpstr>微软雅黑</vt:lpstr>
      <vt:lpstr>Arial</vt:lpstr>
      <vt:lpstr>Cambria Math</vt:lpstr>
      <vt:lpstr>Consolas</vt:lpstr>
      <vt:lpstr>Times New Roman</vt:lpstr>
      <vt:lpstr>Wingdings</vt:lpstr>
      <vt:lpstr>Network</vt:lpstr>
      <vt:lpstr>Equation</vt:lpstr>
      <vt:lpstr>若干图像隐私保护算法的安全分析</vt:lpstr>
      <vt:lpstr>报告提纲</vt:lpstr>
      <vt:lpstr>隐私保护与安全分析</vt:lpstr>
      <vt:lpstr>国内外研究现状</vt:lpstr>
      <vt:lpstr>为什么要研究安全分析？</vt:lpstr>
      <vt:lpstr>安全分析的方法</vt:lpstr>
      <vt:lpstr>本文主要研究内容</vt:lpstr>
      <vt:lpstr>ISEA加密算法描述</vt:lpstr>
      <vt:lpstr>针对ISEA的唯密文攻击</vt:lpstr>
      <vt:lpstr>针对ISEA的已知明文攻击</vt:lpstr>
      <vt:lpstr>针对ISEA的已知明文攻击</vt:lpstr>
      <vt:lpstr>针对ISEA的已知明文攻击</vt:lpstr>
      <vt:lpstr>针对ISEA的选择明文攻击</vt:lpstr>
      <vt:lpstr>IEAE加密算法描述</vt:lpstr>
      <vt:lpstr>针对IEAE的已知明文攻击</vt:lpstr>
      <vt:lpstr>针对IEAE的已知明文攻击</vt:lpstr>
      <vt:lpstr>IEAE所用伪随机序列潜在的短周期</vt:lpstr>
      <vt:lpstr>IEAE所用伪随机序列潜在的短周期</vt:lpstr>
      <vt:lpstr>总结</vt:lpstr>
      <vt:lpstr>展望</vt:lpstr>
      <vt:lpstr>硕士期间完成的论文</vt:lpstr>
      <vt:lpstr>PowerPoint 演示文稿</vt:lpstr>
    </vt:vector>
  </TitlesOfParts>
  <Company>City University of Hong Kong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One to Infinity</dc:title>
  <dc:creator>GRC</dc:creator>
  <cp:lastModifiedBy>Dongdong Lin</cp:lastModifiedBy>
  <cp:revision>1503</cp:revision>
  <dcterms:created xsi:type="dcterms:W3CDTF">2004-03-29T19:47:36Z</dcterms:created>
  <dcterms:modified xsi:type="dcterms:W3CDTF">2018-05-30T12:40:29Z</dcterms:modified>
</cp:coreProperties>
</file>